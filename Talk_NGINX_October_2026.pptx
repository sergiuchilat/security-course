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at happened" id="{66cabcf3-2eb8-1c8f-d036-e780c54b3daf}">
          <p14:sldIdLst>
            <p14:sldId id="256"/>
            <p14:sldId id="257"/>
            <p14:sldId id="258"/>
          </p14:sldIdLst>
        </p14:section>
        <p14:section name="How it works" id="{b6430770-927f-1066-a39c-940cdc12e3b8}">
          <p14:sldIdLst>
            <p14:sldId id="259"/>
            <p14:sldId id="260"/>
            <p14:sldId id="261"/>
            <p14:sldId id="262"/>
          </p14:sldIdLst>
        </p14:section>
        <p14:section name="Response" id="{1284bb41-c127-2afe-2cd5-05eb6825c157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Durată: 10–15 minute. Pornim de la alerta oficială AL-2026-150 a Agenției de Securitate Cibernetică din Singapore (CSA), din 21 octombrie 2026. Întrebare de deschidere: „Cine dintre voi a instalat deja NGINX?” Toți: în Lab 5 e serverul nostru web, iar aplicația Notițe rulează frontend-ul pe NGINX.
— English —
10-15 minute talk based on Singapore CSA alert AL-2026-150 (21 Oct 2026). Opening question: who has installed NGINX? Everyone: it is our web server in Lab 5, and the Notes app frontend runs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 scurt: trei bug-uri de memorie în NGINX, toate cu scor CVSS v4.0 9.2 (critic) dat de F5. Atacatorul nu are nevoie de cont: trimite cereri HTTP speciale. Rezultatul sigur e căderea procesului worker (DoS); execuția de cod e posibilă doar dacă ASLR e dezactivat sau ocolit.
Condiția cheie: bug-urile se declanșează doar cu anumite configurații, care NU sunt cele implicite. De asta același bug are 9.2 la F5 și „medium” pe nginx.org. E o diferență bună de discutat: scorul descrie cel mai rău caz, nu serverul vostru.
— English —
Same bugs, three scores: 9.2 (F5, CVSS v4), 8.1 (CVSS v3.1), medium (nginx.org). A CVSS score describes the worst case, not your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NGINX e peste tot: e unul dintre cele mai folosite servere web din lume, și mai ales stă în fața altor aplicații ca reverse proxy, load balancer, terminație TLS. În Kubernetes, NGINX Ingress Controller e „ușa de intrare” în cluster.
Afectate: NGINX Open Source (până la 1.30.5 și 1.31.6), NGINX Plus R33–R37, Ingress Controller, Gateway Fabric, Instance Manager, F5 WAF și F5 DoS for NGINX. Ironic: chiar produsele de protecție (WAF, DoS) conțin bug-ul, pentru că sunt construite peste NGINX.
Legătura cu cursul: în Lab 5 instalăm NGINX pe Ubuntu cu apt și îl folosim ca reverse proxy pentru aplicația Notițe.
— English —
NGINX is one of the most used web servers and sits in front of other apps as reverse proxy, load balancer and TLS terminator. Also listed: NGINX Instance Manager 2.18-2.23.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 lucrează NGINX: un proces master (rulează ca root, citește configurația, deschide porturile 80/443) și mai mulți workeri (rulează ca utilizatorul www-data/nginx) care servesc efectiv cererile. Dacă un worker cade, master-ul pornește imediat altul.
De ce contează: un singur crash trece aproape neobservat, dar un atacator care trimite cereri în buclă ține workerii într-un ciclu de căderi = DoS. Iar dacă reușește corupția controlată a memoriei, rulează cod în worker, care vede tot traficul deja decriptat (parole, cookie-uri, token-uri).
ASLR (Address Space Layout Randomization) = sistemul de operare pune memoria procesului la adrese aleatorii la fiecare pornire. Atacatorul nu știe unde să sară, deci execuția de cod devine foarte grea. E activ implicit pe Linux. E un exemplu perfect de apărare în adâncime: bug-ul există, dar un strat de protecție îl face mult mai greu de exploatat.
— English —
Master runs as root and spawns workers as www-data/nginx. Workers handle requests, so a worker compromise sees decrypted TLS traffic. ASLR is enabled by default on Linux (check: cat /proc/sys/kernel/randomize_va_space =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 trei bug-uri și configurația care le face posibile:
1) CVE-2026-15176: depășire de buffer în heap când un location combină alias cu rewrite și folosește variabila $request_filename (în set, return sau în formatul de log). Găsit intern de F5.
2) CVE-2026-97205: use-after-free când sunt activate AIO (citire asincronă de fișiere) și SSI (Server Side Includes, pagini cu &lt;!--# include virtual --&gt;). Raportat de cercetătorul Cyberlanc3r.
3) CVE-2026-93479: depășire de buffer la directiva map cu expresii regulate, când variabilele de captură ($1, $2) sunt folosite în root sau în log înaintea variabilei produse de map. Raportat de Matt Suiche (Tolmo) și Mateusz Gierblinski.
Exemplele de pe slide sunt simplificate, scop didactic. Ideea: combinații de directive rare, dar perfect valide, pe care cineva le-a scris cândva și nu le-a mai revizuit.
— English —
15176: location with alias + rewrite and $request_filename in set/return/log_format. 97205: AIO enabled and an SSI page with include virtual. 93479: regex map captures ($1) used in root or log_format before the map's own output variable. Snippets are simplified illustrations, not exact triggers.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Acesta e mesajul central al prezentării: „versiune vulnerabilă” nu înseamnă automat „server exploatabil”.
Pentru ca atacul să meargă trebuie îndeplinite toate trei: versiunea e afectată, configurația conține combinația periculoasă, iar pentru execuție de cod ASLR trebuie ocolit. Fără configurația respectivă, atacatorul nu are ce declanșa.
De aici diferența de scor: F5 dă 9.2 (CVSS v4.0, cel mai rău caz), CVSS v3.1 dă 8.1, iar echipa nginx.org le-a marcat „medium”, pentru că majoritatea instalărilor nu folosesc acele combinații.
Atenție însă: asta NU e un motiv să nu actualizezi. Configurațiile se schimbă, cineva adaugă mâine un alias, iar analiza „noi nu suntem afectați” poate fi greșită. Actualizarea rămâne regula.
— English —
Central message: all conditions must hold. A CVSS score is the worst case for the component; your risk depends on your configuration. But treat 'not affected' conclusions with caution and patch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obține atacatorul, în ordinea probabilității:
1) DoS: workerii cad în buclă, site-ul devine lent sau indisponibil. Asta funcționează garantat dacă există configurația vulnerabilă.
2) Execuție de cod: doar cu ASLR ocolit, de obicei combinând bug-ul cu o scurgere de informație despre adresele din memorie.
3) Dacă reușește: NGINX vede tot traficul decriptat, are acces la cheile TLS încărcate în memorie și la tot ce se află în spatele lui în rețeaua internă.
CIA: disponibilitatea e sigur afectată; confidențialitatea și integritatea doar în scenariul cu execuție de cod.
— English —
Order by likelihood: DoS is reliable, RCE is hard, but a compromised reverse proxy is a very valuable foothold.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Cronologie:
- 14 octombrie: F5 publică trei advisory-uri (K000162416, K000162607, K000162608) și nginx.org lansează 1.30.6 (stable) și 1.31.7 (mainline). Aceleași versiuni repară încă două probleme: injecție de corp de cerere în HTTP/3 (CVE-2026-95101) și falsificarea sesiunilor TLS (CVE-2026-97629).
- 19 octombrie: presa de specialitate (BleepingComputer) preia subiectul.
- 21 octombrie: CSA Singapore publică alerta și cere actualizare imediată.
- Până pe 20–22 octombrie nu a fost raportată exploatare reală.
Comparație cu PHP2Shell din aceeași săptămână: aici dezvăluirea a fost coordonată, fără scurgeri, iar patch-ul a apărut odată cu anunțul. Așa ar trebui să arate procesul.
Context pentru întrebări: F5 a fost spartă în 2025 de un actor statal care a furat cod sursă; de aceea orice bug F5 primește multă atenție.
— English —
Advisories published Oct 14 (CVE records 14-15 Oct). The CSA alert came a week later. Context: F5 itself was breached by a state actor in 2025, so F5 vulnerabilities get close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Versiunile reparate: NGINX Open Source 1.30.6 sau 1.31.7; NGINX Plus 37.0.5.1 sau 37.1.0.1; Ingress Controller 5.7.0; Gateway Fabric 2.8.0; Instance Manager 2.24.0; F5 WAF for NGINX 5.16.0 sau 5.14.2. Unele ramuri vechi nu primesc patch: trebuie mutat pe o ramură suportată.
Dacă nu poți actualiza imediat, schimbi configurația: elimini alias din location sau $request_filename; dezactivezi AIO sau SSI (atenție, fără AIO pot scădea performanțele pentru fișiere mari); folosești capturi cu nume în map și doar în blocul cu expresia regulată.
Detaliu practic: pe Ubuntu/Debian, pachetul din apt poate avea un număr de versiune mai mic (de exemplu 1.24) dar să conțină corecția prin backport. Verificați anunțul distribuției (USN pentru Ubuntu), nu doar numărul versiunii.
— English —
Old unsupported branches get no fix; move to a supported branch. Also: NGINX Ingress Controller users should move to 5.7.0 or the relevant LTS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Exercițiu practic, 2–3 minute. Cum verifici un server:
- nginx -v → versiunea;
- nginx -T → toată configurația activă, inclusiv fișierele incluse; o filtrezi cu grep după alias, request_filename, aio, ssi, map;
- nginx -t înainte de reload, ca să nu strici serverul cu o configurație greșită.
Întrebare pentru studenți: aplicația noastră Notițe folosește imaginea nginx:1.27-alpine. E vulnerabilă?
Răspuns: versiunea e în intervalul afectat, dar configurația (labs/notes-app/frontend/nginx.conf) are doar root, try_files și proxy_pass: niciun alias, SSI, AIO sau map. Deci cele trei bug-uri nu pot fi declanșate. Totuși, versiunea 1.27 e veche și are alte bug-uri reparate de atunci, așa că într-un proiect real am actualiza imaginea.
— English —
Answer: 1.27 is in the affected version range, but labs/notes-app/frontend/nginx.conf only uses root, try_files and proxy_pass: no alias, SSI, AIO or map, so these three bugs cannot be triggered. Still, 1.27 is old and has other fixed bugs, so a real project would update the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Două incidente în aceeași săptămână, două lecții diferite.
PHP2Shell: configurație implicită, deci aproape toată lumea afectată; dezvăluirea s-a scurs, atacurile au început înaintea patch-ului.
NGINX: configurații rare, deci puțini afectați realmente; dezvăluire coordonată, patch disponibil din prima zi, fără exploatare cunoscută.
Ce e comun: amândouă sunt bug-uri de memorie în cod C (use-after-free, buffer overflow), în componente de infrastructură pe care aplicația noastră se bazează fără să le vadă. Lecțiile: inventar, actualizare rapidă, configurație minimă (activezi doar ce folosești), straturi de apărare (ASLR, privilegii minime, izolare).
— English —
Two incidents in the same week, opposite profiles. Use the table to ask students which one they would patch first on a server that runs both (answer: PHP, because default config and active attacks).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Încheiere și discuție: „Dacă ai 50 de servere NGINX, cum afli în 30 de minute care au configurația vulnerabilă?” Răspunsuri bune: nginx -T pe fiecare server prin SSH sau Ansible, căutare în repository-ul cu configurații (dacă e ținut în Git), scanner de vulnerabilități, inventar de imagini Docker.
Surse: alerta CSA AL-2026-150; advisory-urile F5 K000162416, K000162607, K000162608; nginx.org/en/security_advisories.html; BleepingComputer, Cybersecurity News, eSecurity Planet.
— English —
Sources: CSA alert AL-2026-150; F5 advisories K000162416, K000162607, K000162608; nginx.org security advisories; BleepingComputer, Cybersecurity News, eSecurity Planet.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474720" y="2651760"/>
            <a:ext cx="5943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474720" y="3611880"/>
            <a:ext cx="5943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&amp; Infrastructure Security  ·  Case study: NGINX, October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NGINX: three critical bugs, one dangerous config away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 alert AL-2026-150  ·  CVE-2026-15176, CVE-2026-97205, CVE-2026-93479  ·  October 2026</a:t>
            </a:r>
            <a:endParaRPr lang="en-US" sz="2200" dirty="0"/>
          </a:p>
        </p:txBody>
      </p:sp>
      <p:pic>
        <p:nvPicPr>
          <p:cNvPr id="4" name="Server icon" descr="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alert in one slide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memory-corruption bugs in NGINX</a:t>
            </a:r>
            <a:endParaRPr lang="en-US" sz="1600" dirty="0"/>
          </a:p>
        </p:txBody>
      </p:sp>
      <p:sp>
        <p:nvSpPr>
          <p:cNvPr id="6" name="Stat card 2"/>
          <p:cNvSpPr/>
          <p:nvPr/>
        </p:nvSpPr>
        <p:spPr>
          <a:xfrm>
            <a:off x="338328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1188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v4.0 by F5 (8.1 in v3.1, “medium” on nginx.org)</a:t>
            </a:r>
            <a:endParaRPr lang="en-US" sz="1600" dirty="0"/>
          </a:p>
        </p:txBody>
      </p:sp>
      <p:sp>
        <p:nvSpPr>
          <p:cNvPr id="9" name="Stat card 3"/>
          <p:cNvSpPr/>
          <p:nvPr/>
        </p:nvSpPr>
        <p:spPr>
          <a:xfrm>
            <a:off x="621792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needed: remote, unauthenticated HTTP requests</a:t>
            </a:r>
            <a:endParaRPr lang="en-US" sz="1600" dirty="0"/>
          </a:p>
        </p:txBody>
      </p:sp>
      <p:sp>
        <p:nvSpPr>
          <p:cNvPr id="12" name="Stat card 4"/>
          <p:cNvSpPr/>
          <p:nvPr/>
        </p:nvSpPr>
        <p:spPr>
          <a:xfrm>
            <a:off x="9052560" y="146304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81160" y="1691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7432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product families affected, from Open Source to WAF</a:t>
            </a:r>
            <a:endParaRPr lang="en-US" sz="1600" dirty="0"/>
          </a:p>
        </p:txBody>
      </p:sp>
      <p:sp>
        <p:nvSpPr>
          <p:cNvPr id="15" name="Summary card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6" name="Config circle"/>
          <p:cNvSpPr/>
          <p:nvPr/>
        </p:nvSpPr>
        <p:spPr>
          <a:xfrm>
            <a:off x="868680" y="480060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Config icon" descr="Conf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5017770"/>
            <a:ext cx="434340" cy="4343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2011680" y="4434840"/>
            <a:ext cx="9326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only non-default configurations are vulnerable.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crafted request crashes the worker process (DoS). Remote code execution is possible only if ASLR is disabled or bypassed.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was affected</a:t>
            </a:r>
            <a:endParaRPr lang="en-US" sz="3600" dirty="0"/>
          </a:p>
        </p:txBody>
      </p:sp>
      <p:sp>
        <p:nvSpPr>
          <p:cNvPr id="3" name="Websites and APIs card"/>
          <p:cNvSpPr/>
          <p:nvPr/>
        </p:nvSpPr>
        <p:spPr>
          <a:xfrm>
            <a:off x="548640" y="146304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Websites and APIs circle"/>
          <p:cNvSpPr/>
          <p:nvPr/>
        </p:nvSpPr>
        <p:spPr>
          <a:xfrm>
            <a:off x="822960" y="1783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Websites and APIs icon" descr="Websites and AP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0025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459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and APIs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0574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Open Source up to 1.30.5 (stable) and 1.31.6 (mainline): web servers, reverse proxies, TLS termination.</a:t>
            </a:r>
            <a:endParaRPr lang="en-US" sz="1400" dirty="0"/>
          </a:p>
        </p:txBody>
      </p:sp>
      <p:sp>
        <p:nvSpPr>
          <p:cNvPr id="8" name="Companies on NGINX Plus card"/>
          <p:cNvSpPr/>
          <p:nvPr/>
        </p:nvSpPr>
        <p:spPr>
          <a:xfrm>
            <a:off x="6172200" y="146304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9" name="Companies on NGINX Plus circle"/>
          <p:cNvSpPr/>
          <p:nvPr/>
        </p:nvSpPr>
        <p:spPr>
          <a:xfrm>
            <a:off x="6446520" y="17830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Companies on NGINX Plus icon" descr="Companies on NGINX Pl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200025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16459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on NGINX Plus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7543800" y="20574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Plus R33 to R37, the commercial edition used by large enterprises.</a:t>
            </a:r>
            <a:endParaRPr lang="en-US" sz="1400" dirty="0"/>
          </a:p>
        </p:txBody>
      </p:sp>
      <p:sp>
        <p:nvSpPr>
          <p:cNvPr id="13" name="Kubernetes clusters card"/>
          <p:cNvSpPr/>
          <p:nvPr/>
        </p:nvSpPr>
        <p:spPr>
          <a:xfrm>
            <a:off x="548640" y="329184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4" name="Kubernetes clusters circle"/>
          <p:cNvSpPr/>
          <p:nvPr/>
        </p:nvSpPr>
        <p:spPr>
          <a:xfrm>
            <a:off x="822960" y="36118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Kubernetes clusters icon" descr="Kubernetes clust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382905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34747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38862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Controller 5.6.0–5.6.3, Gateway Fabric 1.5–1.6 and 2.1–2.7: the front door of the cluster.</a:t>
            </a:r>
            <a:endParaRPr lang="en-US" sz="1400" dirty="0"/>
          </a:p>
        </p:txBody>
      </p:sp>
      <p:sp>
        <p:nvSpPr>
          <p:cNvPr id="18" name="Security products card"/>
          <p:cNvSpPr/>
          <p:nvPr/>
        </p:nvSpPr>
        <p:spPr>
          <a:xfrm>
            <a:off x="6172200" y="329184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9" name="Security products circle"/>
          <p:cNvSpPr/>
          <p:nvPr/>
        </p:nvSpPr>
        <p:spPr>
          <a:xfrm>
            <a:off x="6446520" y="361188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Security products icon" descr="Security produc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3829050"/>
            <a:ext cx="434340" cy="4343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43800" y="34747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products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7543800" y="38862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WAF for NGINX 5.9–5.15 and F5 DoS for NGINX 4.8–4.10. The protection layer itself was vulnerable.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home: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 puts NGINX in front of the Notes app, and the app's frontend container runs nginx:1.27-alpine.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Background: master, workers and ASLR</a:t>
            </a:r>
            <a:endParaRPr lang="en-US" sz="3600" dirty="0"/>
          </a:p>
        </p:txBody>
      </p:sp>
      <p:sp>
        <p:nvSpPr>
          <p:cNvPr id="3" name="Master box"/>
          <p:cNvSpPr/>
          <p:nvPr/>
        </p:nvSpPr>
        <p:spPr>
          <a:xfrm>
            <a:off x="548640" y="224028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34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· reads config · opens :80 :443</a:t>
            </a:r>
            <a:endParaRPr lang="en-US" sz="1300" dirty="0"/>
          </a:p>
        </p:txBody>
      </p:sp>
      <p:sp>
        <p:nvSpPr>
          <p:cNvPr id="6" name="Spawn arrow 1"/>
          <p:cNvSpPr/>
          <p:nvPr/>
        </p:nvSpPr>
        <p:spPr>
          <a:xfrm flipV="1">
            <a:off x="2971800" y="1828800"/>
            <a:ext cx="822960" cy="1097280"/>
          </a:xfrm>
          <a:prstGeom prst="line">
            <a:avLst/>
          </a:prstGeom>
          <a:noFill/>
          <a:ln w="19050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7" name="Worker 1"/>
          <p:cNvSpPr/>
          <p:nvPr/>
        </p:nvSpPr>
        <p:spPr>
          <a:xfrm>
            <a:off x="3840480" y="1417320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931920" y="14904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856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requests</a:t>
            </a:r>
            <a:endParaRPr lang="en-US" sz="1300" dirty="0"/>
          </a:p>
        </p:txBody>
      </p:sp>
      <p:sp>
        <p:nvSpPr>
          <p:cNvPr id="10" name="Spawn arrow 2"/>
          <p:cNvSpPr/>
          <p:nvPr/>
        </p:nvSpPr>
        <p:spPr>
          <a:xfrm flipV="1">
            <a:off x="2971800" y="2834640"/>
            <a:ext cx="822960" cy="91440"/>
          </a:xfrm>
          <a:prstGeom prst="line">
            <a:avLst/>
          </a:prstGeom>
          <a:noFill/>
          <a:ln w="19050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11" name="Worker 2"/>
          <p:cNvSpPr/>
          <p:nvPr/>
        </p:nvSpPr>
        <p:spPr>
          <a:xfrm>
            <a:off x="3840480" y="2423160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31920" y="2496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862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crashed → restarted</a:t>
            </a:r>
            <a:endParaRPr lang="en-US" sz="1300" dirty="0"/>
          </a:p>
        </p:txBody>
      </p:sp>
      <p:sp>
        <p:nvSpPr>
          <p:cNvPr id="14" name="Spawn arrow 3"/>
          <p:cNvSpPr/>
          <p:nvPr/>
        </p:nvSpPr>
        <p:spPr>
          <a:xfrm>
            <a:off x="2971800" y="2926080"/>
            <a:ext cx="822960" cy="914400"/>
          </a:xfrm>
          <a:prstGeom prst="line">
            <a:avLst/>
          </a:prstGeom>
          <a:noFill/>
          <a:ln w="19050">
            <a:solidFill>
              <a:srgbClr val="6B7A8C"/>
            </a:solidFill>
            <a:prstDash val="solid"/>
            <a:tailEnd type="triangle"/>
          </a:ln>
        </p:spPr>
      </p:sp>
      <p:sp>
        <p:nvSpPr>
          <p:cNvPr id="15" name="Worker 3"/>
          <p:cNvSpPr/>
          <p:nvPr/>
        </p:nvSpPr>
        <p:spPr>
          <a:xfrm>
            <a:off x="3840480" y="3429000"/>
            <a:ext cx="237744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31920" y="35021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867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requests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www-data · sees decrypted traffic</a:t>
            </a:r>
            <a:endParaRPr lang="en-US" sz="1200" dirty="0"/>
          </a:p>
        </p:txBody>
      </p:sp>
      <p:sp>
        <p:nvSpPr>
          <p:cNvPr id="19" name="Crash = restart card"/>
          <p:cNvSpPr/>
          <p:nvPr/>
        </p:nvSpPr>
        <p:spPr>
          <a:xfrm>
            <a:off x="6675120" y="1417320"/>
            <a:ext cx="49377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Crash = restart circle"/>
          <p:cNvSpPr/>
          <p:nvPr/>
        </p:nvSpPr>
        <p:spPr>
          <a:xfrm>
            <a:off x="6903720" y="178308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Crash = restart icon" descr="Crash = rest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9460" y="1988820"/>
            <a:ext cx="411480" cy="4114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955280" y="16002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= restart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7955280" y="2011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crash is barely visible. A loop of crafted requests keeps workers crashing: denial of service.</a:t>
            </a:r>
            <a:endParaRPr lang="en-US" sz="1400" dirty="0"/>
          </a:p>
        </p:txBody>
      </p:sp>
      <p:sp>
        <p:nvSpPr>
          <p:cNvPr id="24" name="ASLR card"/>
          <p:cNvSpPr/>
          <p:nvPr/>
        </p:nvSpPr>
        <p:spPr>
          <a:xfrm>
            <a:off x="6675120" y="3246120"/>
            <a:ext cx="49377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5" name="ASLR circle"/>
          <p:cNvSpPr/>
          <p:nvPr/>
        </p:nvSpPr>
        <p:spPr>
          <a:xfrm>
            <a:off x="6903720" y="361188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ASLR icon" descr="ASL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460" y="3817620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955280" y="3429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ASLR</a:t>
            </a:r>
            <a:endParaRPr lang="en-US" sz="1900" dirty="0"/>
          </a:p>
        </p:txBody>
      </p:sp>
      <p:sp>
        <p:nvSpPr>
          <p:cNvPr id="28" name="Text 24"/>
          <p:cNvSpPr txBox="1"/>
          <p:nvPr/>
        </p:nvSpPr>
        <p:spPr>
          <a:xfrm>
            <a:off x="7955280" y="3840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loads code and heap at random addresses on every start. The attacker does not know where to jump, so turning memory corruption into code execution is much harder.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in action: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is real, but an OS-level layer (ASLR) turns a likely RCE into a likely crash.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bugs, three dangerous configs</a:t>
            </a:r>
            <a:endParaRPr lang="en-US" sz="3600" dirty="0"/>
          </a:p>
        </p:txBody>
      </p:sp>
      <p:sp>
        <p:nvSpPr>
          <p:cNvPr id="3" name="CVE-2026-15176 header"/>
          <p:cNvSpPr/>
          <p:nvPr/>
        </p:nvSpPr>
        <p:spPr>
          <a:xfrm>
            <a:off x="548640" y="141732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CVE-2026-15176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overflow · alias + rewrite</a:t>
            </a:r>
            <a:endParaRPr lang="en-US" sz="1400" dirty="0"/>
          </a:p>
        </p:txBody>
      </p:sp>
      <p:sp>
        <p:nvSpPr>
          <p:cNvPr id="6" name="CVE-2026-15176 code"/>
          <p:cNvSpPr/>
          <p:nvPr/>
        </p:nvSpPr>
        <p:spPr>
          <a:xfrm>
            <a:off x="548640" y="242316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/img/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alias /data/images/;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rewrite ^ /x;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$f $request_filename;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internally by F5</a:t>
            </a:r>
            <a:endParaRPr lang="en-US" sz="1300" dirty="0"/>
          </a:p>
        </p:txBody>
      </p:sp>
      <p:sp>
        <p:nvSpPr>
          <p:cNvPr id="9" name="CVE-2026-97205 header"/>
          <p:cNvSpPr/>
          <p:nvPr/>
        </p:nvSpPr>
        <p:spPr>
          <a:xfrm>
            <a:off x="4343400" y="141732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CVE-2026-97205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Use-after-free · AIO + SSI</a:t>
            </a:r>
            <a:endParaRPr lang="en-US" sz="1400" dirty="0"/>
          </a:p>
        </p:txBody>
      </p:sp>
      <p:sp>
        <p:nvSpPr>
          <p:cNvPr id="12" name="CVE-2026-97205 code"/>
          <p:cNvSpPr/>
          <p:nvPr/>
        </p:nvSpPr>
        <p:spPr>
          <a:xfrm>
            <a:off x="4343400" y="242316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6060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 on;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ssi on;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&lt;!--# include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virtual="/menu" --&gt;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by Cyberlanc3r</a:t>
            </a:r>
            <a:endParaRPr lang="en-US" sz="1300" dirty="0"/>
          </a:p>
        </p:txBody>
      </p:sp>
      <p:sp>
        <p:nvSpPr>
          <p:cNvPr id="15" name="CVE-2026-93479 header"/>
          <p:cNvSpPr/>
          <p:nvPr/>
        </p:nvSpPr>
        <p:spPr>
          <a:xfrm>
            <a:off x="8138160" y="141732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CVE-2026-93479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overflow · map + regex</a:t>
            </a:r>
            <a:endParaRPr lang="en-US" sz="1400" dirty="0"/>
          </a:p>
        </p:txBody>
      </p:sp>
      <p:sp>
        <p:nvSpPr>
          <p:cNvPr id="18" name="CVE-2026-93479 code"/>
          <p:cNvSpPr/>
          <p:nvPr/>
        </p:nvSpPr>
        <p:spPr>
          <a:xfrm>
            <a:off x="8138160" y="242316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260604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 $uri $site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~^/(.+)/ $1;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/srv/$1/$site;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 Suiche (Tolmo), M. Gierblinski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but valid combinations of directives. Simplified examples for teaching.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Vulnerable version ≠ exploitable server</a:t>
            </a:r>
            <a:endParaRPr lang="en-US" sz="3600" dirty="0"/>
          </a:p>
        </p:txBody>
      </p:sp>
      <p:sp>
        <p:nvSpPr>
          <p:cNvPr id="3" name="Affected version card"/>
          <p:cNvSpPr/>
          <p:nvPr/>
        </p:nvSpPr>
        <p:spPr>
          <a:xfrm>
            <a:off x="548640" y="1463040"/>
            <a:ext cx="32918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Affected version circle"/>
          <p:cNvSpPr/>
          <p:nvPr/>
        </p:nvSpPr>
        <p:spPr>
          <a:xfrm>
            <a:off x="1783080" y="164592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Affected version icon" descr="Affected ver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18516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version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1.30.5 or 1.31.6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2194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000" dirty="0"/>
          </a:p>
        </p:txBody>
      </p:sp>
      <p:sp>
        <p:nvSpPr>
          <p:cNvPr id="9" name="Dangerous config card"/>
          <p:cNvSpPr/>
          <p:nvPr/>
        </p:nvSpPr>
        <p:spPr>
          <a:xfrm>
            <a:off x="4343400" y="1463040"/>
            <a:ext cx="32918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Dangerous config circle"/>
          <p:cNvSpPr/>
          <p:nvPr/>
        </p:nvSpPr>
        <p:spPr>
          <a:xfrm>
            <a:off x="5577840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Dangerous config icon" descr="Dangerous confi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580" y="18516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config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+ rewrite, AIO + SSI, regex map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2194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000" dirty="0"/>
          </a:p>
        </p:txBody>
      </p:sp>
      <p:sp>
        <p:nvSpPr>
          <p:cNvPr id="15" name="ASLR bypassed card"/>
          <p:cNvSpPr/>
          <p:nvPr/>
        </p:nvSpPr>
        <p:spPr>
          <a:xfrm>
            <a:off x="8138160" y="1463040"/>
            <a:ext cx="32918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ASLR bypassed circle"/>
          <p:cNvSpPr/>
          <p:nvPr/>
        </p:nvSpPr>
        <p:spPr>
          <a:xfrm>
            <a:off x="9372600" y="164592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ASLR bypassed icon" descr="ASLR bypass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0" y="18516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ASLR bypassed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needed for code execution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3977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bug, three ratings</a:t>
            </a:r>
            <a:endParaRPr lang="en-US" sz="1800" dirty="0"/>
          </a:p>
        </p:txBody>
      </p:sp>
      <p:sp>
        <p:nvSpPr>
          <p:cNvPr id="21" name="Score F5, CVSS v4.0"/>
          <p:cNvSpPr/>
          <p:nvPr/>
        </p:nvSpPr>
        <p:spPr>
          <a:xfrm>
            <a:off x="548640" y="4480560"/>
            <a:ext cx="17830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48640" y="45720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</a:t>
            </a:r>
            <a:endParaRPr lang="en-US" sz="34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303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CVSS v4.0</a:t>
            </a:r>
            <a:endParaRPr lang="en-US" sz="1300" dirty="0"/>
          </a:p>
        </p:txBody>
      </p:sp>
      <p:sp>
        <p:nvSpPr>
          <p:cNvPr id="24" name="Score CVSS v3.1"/>
          <p:cNvSpPr/>
          <p:nvPr/>
        </p:nvSpPr>
        <p:spPr>
          <a:xfrm>
            <a:off x="2514600" y="4480560"/>
            <a:ext cx="17830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2514600" y="45720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</a:t>
            </a:r>
            <a:endParaRPr lang="en-US" sz="3400" dirty="0"/>
          </a:p>
        </p:txBody>
      </p:sp>
      <p:sp>
        <p:nvSpPr>
          <p:cNvPr id="26" name="Text 21"/>
          <p:cNvSpPr txBox="1"/>
          <p:nvPr/>
        </p:nvSpPr>
        <p:spPr>
          <a:xfrm>
            <a:off x="2514600" y="5303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v3.1</a:t>
            </a:r>
            <a:endParaRPr lang="en-US" sz="1300" dirty="0"/>
          </a:p>
        </p:txBody>
      </p:sp>
      <p:sp>
        <p:nvSpPr>
          <p:cNvPr id="27" name="Score nginx.org"/>
          <p:cNvSpPr/>
          <p:nvPr/>
        </p:nvSpPr>
        <p:spPr>
          <a:xfrm>
            <a:off x="4480560" y="4480560"/>
            <a:ext cx="17830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4480560" y="45720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2600" dirty="0"/>
          </a:p>
        </p:txBody>
      </p:sp>
      <p:sp>
        <p:nvSpPr>
          <p:cNvPr id="29" name="Text 24"/>
          <p:cNvSpPr txBox="1"/>
          <p:nvPr/>
        </p:nvSpPr>
        <p:spPr>
          <a:xfrm>
            <a:off x="4480560" y="5303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nginx.org</a:t>
            </a:r>
            <a:endParaRPr lang="en-US" sz="1300" dirty="0"/>
          </a:p>
        </p:txBody>
      </p:sp>
      <p:sp>
        <p:nvSpPr>
          <p:cNvPr id="30" name="Warning card"/>
          <p:cNvSpPr/>
          <p:nvPr/>
        </p:nvSpPr>
        <p:spPr>
          <a:xfrm>
            <a:off x="6583680" y="3977640"/>
            <a:ext cx="5029200" cy="1874520"/>
          </a:xfrm>
          <a:prstGeom prst="roundRect">
            <a:avLst>
              <a:gd name="adj" fmla="val 5854"/>
            </a:avLst>
          </a:prstGeom>
          <a:solidFill>
            <a:schemeClr val="tx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858000" y="3977640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patch.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 change: someone adds an alias tomorrow. “We are not affected” is an analysis that can be wrong; an update is not.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attacker gets</a:t>
            </a:r>
            <a:endParaRPr lang="en-US" sz="3600" dirty="0"/>
          </a:p>
        </p:txBody>
      </p:sp>
      <p:sp>
        <p:nvSpPr>
          <p:cNvPr id="3" name="Denial of service card"/>
          <p:cNvSpPr/>
          <p:nvPr/>
        </p:nvSpPr>
        <p:spPr>
          <a:xfrm>
            <a:off x="54864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Denial of service circle"/>
          <p:cNvSpPr/>
          <p:nvPr/>
        </p:nvSpPr>
        <p:spPr>
          <a:xfrm>
            <a:off x="868680" y="173736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enial of service icon" descr="Denial of serv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954530"/>
            <a:ext cx="434340" cy="434340"/>
          </a:xfrm>
          <a:prstGeom prst="rect">
            <a:avLst/>
          </a:prstGeom>
        </p:spPr>
      </p:pic>
      <p:sp>
        <p:nvSpPr>
          <p:cNvPr id="6" name="Denial of service tag"/>
          <p:cNvSpPr/>
          <p:nvPr/>
        </p:nvSpPr>
        <p:spPr>
          <a:xfrm>
            <a:off x="2011680" y="1965960"/>
            <a:ext cx="169164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01168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Denial of service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461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crash in a loop; the site slows down or goes offline. Reliable whenever the vulnerable config exists.</a:t>
            </a:r>
            <a:endParaRPr lang="en-US" sz="1500" dirty="0"/>
          </a:p>
        </p:txBody>
      </p:sp>
      <p:sp>
        <p:nvSpPr>
          <p:cNvPr id="10" name="Code execution card"/>
          <p:cNvSpPr/>
          <p:nvPr/>
        </p:nvSpPr>
        <p:spPr>
          <a:xfrm>
            <a:off x="434340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1" name="Code execution circle"/>
          <p:cNvSpPr/>
          <p:nvPr/>
        </p:nvSpPr>
        <p:spPr>
          <a:xfrm>
            <a:off x="4663440" y="173736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Code execution icon" descr="Code execu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1954530"/>
            <a:ext cx="434340" cy="434340"/>
          </a:xfrm>
          <a:prstGeom prst="rect">
            <a:avLst/>
          </a:prstGeom>
        </p:spPr>
      </p:pic>
      <p:sp>
        <p:nvSpPr>
          <p:cNvPr id="13" name="Code execution tag"/>
          <p:cNvSpPr/>
          <p:nvPr/>
        </p:nvSpPr>
        <p:spPr>
          <a:xfrm>
            <a:off x="5806440" y="1965960"/>
            <a:ext cx="169164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80644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execution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32461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ASLR disabled or bypassed, usually by chaining with a memory-leak bug.</a:t>
            </a:r>
            <a:endParaRPr lang="en-US" sz="1500" dirty="0"/>
          </a:p>
        </p:txBody>
      </p:sp>
      <p:sp>
        <p:nvSpPr>
          <p:cNvPr id="17" name="If RCE succeeds card"/>
          <p:cNvSpPr/>
          <p:nvPr/>
        </p:nvSpPr>
        <p:spPr>
          <a:xfrm>
            <a:off x="813816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8" name="If RCE succeeds circle"/>
          <p:cNvSpPr/>
          <p:nvPr/>
        </p:nvSpPr>
        <p:spPr>
          <a:xfrm>
            <a:off x="8458200" y="173736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9" name="If RCE succeeds icon" descr="If RCE succee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370" y="1954530"/>
            <a:ext cx="434340" cy="434340"/>
          </a:xfrm>
          <a:prstGeom prst="rect">
            <a:avLst/>
          </a:prstGeom>
        </p:spPr>
      </p:pic>
      <p:sp>
        <p:nvSpPr>
          <p:cNvPr id="20" name="If RCE succeeds tag"/>
          <p:cNvSpPr/>
          <p:nvPr/>
        </p:nvSpPr>
        <p:spPr>
          <a:xfrm>
            <a:off x="9601200" y="1965960"/>
            <a:ext cx="1691640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601200" y="1965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45820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RCE succeeds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8458200" y="32461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sees decrypted traffic and TLS keys, and reaches every backend behind it.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always at risk. Confidentiality and Integrity only in the code-execution scenario.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Timeline: a coordinated disclosure</a:t>
            </a:r>
            <a:endParaRPr lang="en-US" sz="3600" dirty="0"/>
          </a:p>
        </p:txBody>
      </p:sp>
      <p:sp>
        <p:nvSpPr>
          <p:cNvPr id="3" name="Timeline line"/>
          <p:cNvSpPr/>
          <p:nvPr/>
        </p:nvSpPr>
        <p:spPr>
          <a:xfrm>
            <a:off x="2779776" y="1600200"/>
            <a:ext cx="0" cy="3931920"/>
          </a:xfrm>
          <a:prstGeom prst="line">
            <a:avLst/>
          </a:prstGeom>
          <a:noFill/>
          <a:ln w="25400">
            <a:solidFill>
              <a:srgbClr val="6B7A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Oct 14</a:t>
            </a:r>
            <a:endParaRPr lang="en-US" sz="1600" dirty="0"/>
          </a:p>
        </p:txBody>
      </p:sp>
      <p:sp>
        <p:nvSpPr>
          <p:cNvPr id="5" name="Dot 1"/>
          <p:cNvSpPr/>
          <p:nvPr/>
        </p:nvSpPr>
        <p:spPr>
          <a:xfrm>
            <a:off x="2651760" y="160934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0" y="1463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report privately to F5; one bug found by F5's own team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14</a:t>
            </a:r>
            <a:endParaRPr lang="en-US" sz="1600" dirty="0"/>
          </a:p>
        </p:txBody>
      </p:sp>
      <p:sp>
        <p:nvSpPr>
          <p:cNvPr id="8" name="Dot 2"/>
          <p:cNvSpPr/>
          <p:nvPr/>
        </p:nvSpPr>
        <p:spPr>
          <a:xfrm>
            <a:off x="2651760" y="2478024"/>
            <a:ext cx="256032" cy="256032"/>
          </a:xfrm>
          <a:prstGeom prst="ellipse">
            <a:avLst/>
          </a:prstGeom>
          <a:solidFill>
            <a:schemeClr val="accent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0" y="23317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advisories K000162416 / 162607 / 162608. nginx 1.30.6 and 1.31.7 released, fixing these 3 + 2 more (HTTP/3, TLS tickets)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19</a:t>
            </a:r>
            <a:endParaRPr lang="en-US" sz="1600" dirty="0"/>
          </a:p>
        </p:txBody>
      </p:sp>
      <p:sp>
        <p:nvSpPr>
          <p:cNvPr id="11" name="Dot 3"/>
          <p:cNvSpPr/>
          <p:nvPr/>
        </p:nvSpPr>
        <p:spPr>
          <a:xfrm>
            <a:off x="2651760" y="3346704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3200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press picks it up (BleepingComputer and others)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69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21</a:t>
            </a:r>
            <a:endParaRPr lang="en-US" sz="1600" dirty="0"/>
          </a:p>
        </p:txBody>
      </p:sp>
      <p:sp>
        <p:nvSpPr>
          <p:cNvPr id="14" name="Dot 4"/>
          <p:cNvSpPr/>
          <p:nvPr/>
        </p:nvSpPr>
        <p:spPr>
          <a:xfrm>
            <a:off x="2651760" y="4215384"/>
            <a:ext cx="256032" cy="256032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0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CSA publishes alert AL-2026-150: patch immediately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37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Oct 22</a:t>
            </a:r>
            <a:endParaRPr lang="en-US" sz="1600" dirty="0"/>
          </a:p>
        </p:txBody>
      </p:sp>
      <p:sp>
        <p:nvSpPr>
          <p:cNvPr id="17" name="Dot 5"/>
          <p:cNvSpPr/>
          <p:nvPr/>
        </p:nvSpPr>
        <p:spPr>
          <a:xfrm>
            <a:off x="2651760" y="5084064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0" y="4937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exploitation in the wild reported, no public exploit known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PHP2Shell the same week: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the details leaked and attacks started before the patch. Here the patch came first.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fixed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 releases</a:t>
            </a:r>
            <a:endParaRPr lang="en-US" sz="1800" dirty="0"/>
          </a:p>
        </p:txBody>
      </p:sp>
      <p:sp>
        <p:nvSpPr>
          <p:cNvPr id="4" name="NGINX Open Source"/>
          <p:cNvSpPr/>
          <p:nvPr/>
        </p:nvSpPr>
        <p:spPr>
          <a:xfrm>
            <a:off x="548640" y="1874520"/>
            <a:ext cx="53035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Open Source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874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1.30.6 / 1.31.7</a:t>
            </a:r>
            <a:endParaRPr lang="en-US" sz="1800" dirty="0"/>
          </a:p>
        </p:txBody>
      </p:sp>
      <p:sp>
        <p:nvSpPr>
          <p:cNvPr id="7" name="NGINX Plus"/>
          <p:cNvSpPr/>
          <p:nvPr/>
        </p:nvSpPr>
        <p:spPr>
          <a:xfrm>
            <a:off x="548640" y="2532888"/>
            <a:ext cx="53035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532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Plus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5328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37.0.5.1 / 37.1.0.1</a:t>
            </a:r>
            <a:endParaRPr lang="en-US" sz="1800" dirty="0"/>
          </a:p>
        </p:txBody>
      </p:sp>
      <p:sp>
        <p:nvSpPr>
          <p:cNvPr id="10" name="Ingress Controller"/>
          <p:cNvSpPr/>
          <p:nvPr/>
        </p:nvSpPr>
        <p:spPr>
          <a:xfrm>
            <a:off x="548640" y="3191256"/>
            <a:ext cx="53035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19125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Controller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19125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5.7.0</a:t>
            </a:r>
            <a:endParaRPr lang="en-US" sz="1800" dirty="0"/>
          </a:p>
        </p:txBody>
      </p:sp>
      <p:sp>
        <p:nvSpPr>
          <p:cNvPr id="13" name="Gateway Fabric"/>
          <p:cNvSpPr/>
          <p:nvPr/>
        </p:nvSpPr>
        <p:spPr>
          <a:xfrm>
            <a:off x="548640" y="3849624"/>
            <a:ext cx="53035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84962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Fabric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384962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2.8.0</a:t>
            </a:r>
            <a:endParaRPr lang="en-US" sz="1800" dirty="0"/>
          </a:p>
        </p:txBody>
      </p:sp>
      <p:sp>
        <p:nvSpPr>
          <p:cNvPr id="16" name="Instance Manager"/>
          <p:cNvSpPr/>
          <p:nvPr/>
        </p:nvSpPr>
        <p:spPr>
          <a:xfrm>
            <a:off x="548640" y="4507992"/>
            <a:ext cx="53035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5079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Manager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45079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2.24.0</a:t>
            </a:r>
            <a:endParaRPr lang="en-US" sz="1800" dirty="0"/>
          </a:p>
        </p:txBody>
      </p:sp>
      <p:sp>
        <p:nvSpPr>
          <p:cNvPr id="19" name="F5 WAF for NGINX"/>
          <p:cNvSpPr/>
          <p:nvPr/>
        </p:nvSpPr>
        <p:spPr>
          <a:xfrm>
            <a:off x="548640" y="5166360"/>
            <a:ext cx="53035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166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WAF for NGINX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5166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5.16.0 / 5.14.2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1371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cannot update today: change the config</a:t>
            </a:r>
            <a:endParaRPr lang="en-US" sz="1800" dirty="0"/>
          </a:p>
        </p:txBody>
      </p:sp>
      <p:sp>
        <p:nvSpPr>
          <p:cNvPr id="23" name="CVE-2026-15176 circle"/>
          <p:cNvSpPr/>
          <p:nvPr/>
        </p:nvSpPr>
        <p:spPr>
          <a:xfrm>
            <a:off x="6400800" y="19202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4" name="CVE-2026-15176 icon" descr="CVE-2026-1517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10312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360920" y="187452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CVE-2026-15176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360920" y="22585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alias inside location; avoid $request_filename</a:t>
            </a:r>
            <a:endParaRPr lang="en-US" sz="1400" dirty="0"/>
          </a:p>
        </p:txBody>
      </p:sp>
      <p:sp>
        <p:nvSpPr>
          <p:cNvPr id="27" name="CVE-2026-97205 circle"/>
          <p:cNvSpPr/>
          <p:nvPr/>
        </p:nvSpPr>
        <p:spPr>
          <a:xfrm>
            <a:off x="6400800" y="30175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CVE-2026-97205 icon" descr="CVE-2026-9720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200400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360920" y="297180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CVE-2026-97205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7360920" y="335584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AIO or SSI (AIO off may slow large static files)</a:t>
            </a:r>
            <a:endParaRPr lang="en-US" sz="1400" dirty="0"/>
          </a:p>
        </p:txBody>
      </p:sp>
      <p:sp>
        <p:nvSpPr>
          <p:cNvPr id="31" name="CVE-2026-93479 circle"/>
          <p:cNvSpPr/>
          <p:nvPr/>
        </p:nvSpPr>
        <p:spPr>
          <a:xfrm>
            <a:off x="6400800" y="41148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2" name="CVE-2026-93479 icon" descr="CVE-2026-93479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297680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360920" y="40690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CVE-2026-93479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7360920" y="44531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named captures in map, only inside the regex block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6400800" y="52578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Ubuntu/Debian: apt may ship an older version number with the fix backported. Check the distro advisory (USN), not only nginx -v.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Exercise: is our server exploitable?</a:t>
            </a:r>
            <a:endParaRPr lang="en-US" sz="3600" dirty="0"/>
          </a:p>
        </p:txBody>
      </p:sp>
      <p:sp>
        <p:nvSpPr>
          <p:cNvPr id="3" name="Commands card"/>
          <p:cNvSpPr/>
          <p:nvPr/>
        </p:nvSpPr>
        <p:spPr>
          <a:xfrm>
            <a:off x="548640" y="1417320"/>
            <a:ext cx="5760720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2 minutes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5349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-v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nginx -T | grep -nE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'alias|request_filename|aio|ssi|map '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nginx -t &amp;&amp; sudo systemctl reload nginx</a:t>
            </a:r>
            <a:endParaRPr lang="en-US" sz="1400" dirty="0"/>
          </a:p>
        </p:txBody>
      </p:sp>
      <p:sp>
        <p:nvSpPr>
          <p:cNvPr id="6" name="Notes app card"/>
          <p:cNvSpPr/>
          <p:nvPr/>
        </p:nvSpPr>
        <p:spPr>
          <a:xfrm>
            <a:off x="6675120" y="1417320"/>
            <a:ext cx="493776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7" name="Docker circle"/>
          <p:cNvSpPr/>
          <p:nvPr/>
        </p:nvSpPr>
        <p:spPr>
          <a:xfrm>
            <a:off x="6949440" y="169164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Docker icon" descr="Doc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180" y="18973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0100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Notes app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frontend: nginx:1.27-alpine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8346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in the affected range?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directives in nginx.conf?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exploitable, or not? And should we update anyway?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-T prints the full active configuration, including every included file.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week, two lessons</a:t>
            </a:r>
            <a:endParaRPr lang="en-US" sz="3600" dirty="0"/>
          </a:p>
        </p:txBody>
      </p:sp>
      <p:graphicFrame>
        <p:nvGraphicFramePr>
          <p:cNvPr id="12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PHP2Shell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(AL-2026-150)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settings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Rare, non-default config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is exposed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every PHP site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servers in practice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Leaked, attacks before patch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Coordinated, patch first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execution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of service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class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Use-after-free in 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Overflow / use-after-free in 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4" name="Lesson circle"/>
          <p:cNvSpPr/>
          <p:nvPr/>
        </p:nvSpPr>
        <p:spPr>
          <a:xfrm>
            <a:off x="548640" y="47548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esson icon" descr="Les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49606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600200" y="4617720"/>
            <a:ext cx="10012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lesson: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bugs in C infrastructure we never see. Inventory, fast updates, minimal config (enable only what you use), and layers like ASLR and least privilege.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only what you use.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you run 50 NGINX servers. How do you find the vulnerable configs in 30 minutes?</a:t>
            </a:r>
            <a:endParaRPr lang="en-US" sz="2200" dirty="0"/>
          </a:p>
        </p:txBody>
      </p:sp>
      <p:pic>
        <p:nvPicPr>
          <p:cNvPr id="4" name="Question icon" descr="Ques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ecurity Course">
  <a:themeElements>
    <a:clrScheme name="Security Course">
      <a:dk1>
        <a:srgbClr val="1B2430"/>
      </a:dk1>
      <a:lt1>
        <a:srgbClr val="FFFFFF"/>
      </a:lt1>
      <a:dk2>
        <a:srgbClr val="0F1B2D"/>
      </a:dk2>
      <a:lt2>
        <a:srgbClr val="EEF2F6"/>
      </a:lt2>
      <a:accent1>
        <a:srgbClr val="F2A541"/>
      </a:accent1>
      <a:accent2>
        <a:srgbClr val="1B998B"/>
      </a:accent2>
      <a:accent3>
        <a:srgbClr val="D64550"/>
      </a:accent3>
      <a:accent4>
        <a:srgbClr val="3D5A80"/>
      </a:accent4>
      <a:accent5>
        <a:srgbClr val="6B7A8C"/>
      </a:accent5>
      <a:accent6>
        <a:srgbClr val="8E6C8A"/>
      </a:accent6>
      <a:hlink>
        <a:srgbClr val="1B998B"/>
      </a:hlink>
      <a:folHlink>
        <a:srgbClr val="8E6C8A"/>
      </a:folHlink>
    </a:clrScheme>
    <a:fontScheme name="Security Cour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NGINX critical vulnerabilities – Case Study (October 2026)</dc:title>
  <dc:subject>PptxGenJS Presentation</dc:subject>
  <dc:creator>Web Security Course</dc:creator>
  <cp:lastModifiedBy>Web Security Course</cp:lastModifiedBy>
  <cp:revision>1</cp:revision>
  <dcterms:created xsi:type="dcterms:W3CDTF">2026-10-22T13:23:29Z</dcterms:created>
  <dcterms:modified xsi:type="dcterms:W3CDTF">2026-10-22T13:23:29Z</dcterms:modified>
</cp:coreProperties>
</file>