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at happened" id="{b6d30da8-70db-19e7-2a66-6382cd73c206}">
          <p14:sldIdLst>
            <p14:sldId id="256"/>
            <p14:sldId id="257"/>
            <p14:sldId id="258"/>
          </p14:sldIdLst>
        </p14:section>
        <p14:section name="How it works" id="{da66a972-c30b-9fb8-36a4-633132da7bc8}">
          <p14:sldIdLst>
            <p14:sldId id="259"/>
            <p14:sldId id="260"/>
            <p14:sldId id="261"/>
            <p14:sldId id="262"/>
          </p14:sldIdLst>
        </p14:section>
        <p14:section name="Response" id="{872f119e-404a-43c6-a2ea-666d6eab558e}">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Durată: 10–15 minute. Începe cu o întrebare către studenți: „Codul vostru e perfect: fără SQL injection, fără XSS. Poate fi totuși spart site-ul?” Răspunsul: da, dacă e vulnerabil chiar limbajul pe care rulează. Exact asta s-a întâmplat cu PHP pe 21 octombrie 2026.
— English —
10-15 minute talk. Start with a question: 'Your code is perfect, no SQL injection, no XSS. Can your site still be hacked?' Answer: yes, if the runtime under it is broken. That is exactly what happened to PHP on 21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RCE (Remote Code Execution) e cea mai gravă categorie: atacatorul rulează comenzi pe server cu drepturile utilizatorului serverului web (www-data). Numele PHP2Shell înseamnă „de la o cerere PHP la un shell pe server”.
Cifrele: scor CVSS 9.2 (oficial; postările scurse înainte de publicare spuneau 10.0, greșit). Nu e nevoie de cont, parolă sau vreun click din partea victimei. PHP rulează pe circa 70% din site-urile la care se știe limbajul de pe server. Toate versiunile de la 5.4 până la 8.5.11 sunt afectate.
Pe lângă execuția de cod, atacatorul poate citi memoria altor cereri: parole, token-uri de sesiune, chei API.
— English —
RCE = Remote Code Execution, the worst category: the attacker runs commands with the rights of the web server user (www-data). The nickname PHP2Shell means 'from a PHP request to a shell on the server'. Official score is 9.2; leaked posts before release claimed 10.0, which was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Afectat e orice server care rulează PHP și răspunde la cereri web: PHP-FPM, Apache mod_php, php-cgi, FrankenPHP, LiteSpeed. Prioritatea maximă a fost mod_php, pentru că atacul funcționează înainte să ruleze vreo linie din codul aplicației. Scripturile PHP rulate din linia de comandă (cron) nu sunt ținta, fiindcă acolo nu există o cerere HTTP controlată de atacator.
Exemple concrete: Wiz a demonstrat execuție de cod pe WordPress, Drupal și Joomla. Furnizorii de firewall-uri (pfSense, OPNsense, Cisco, Palo Alto) au publicat buletine pentru produsele lor. Universitatea din Washington a tăiat accesul la rețea (null route) pentru serverele nepatchuite până la actualizare.
Mesajul principal: codul aplicației poate fi 100% corect și totuși serverul e compromis, pentru că bug-ul e mai jos, în runtime.
— English —
Every server that runs PHP and answers web requests: PHP-FPM, Apache mod_php, php-cgi, FrankenPHP, LiteSpeed. mod_php was the highest priority because the exploit fires before any application code runs. PHP CLI scripts (cron jobs) are not the target, since there is no attacker-controlled HTTP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Dacă se poate, desenează schema pe tablă.
PHP-FPM și Apache nu pornesc un proces nou pentru fiecare cerere, ar fi prea lent. Țin un set de procese („workeri”) și fiecare servește mii de cereri la rând. Memoria din interiorul unui worker rămâne de la o cerere la alta, iar PHP trebuie să o curețe la final (pasul 4).
Presupunerea pe care se bazează totul: curățarea se termină mereu corect, deci cererea B nu vede nimic din cererea A. PHP2Shell strică exact această presupunere. Ambele bug-uri sunt în pasul marcat cu roșu.
Legătura cu cursul: în Lab 5 lucrăm cu Nginx + PHP-FPM / backend exact pe acest model.
— English —
Draw this on the board if possible. Connect to Lab 5: PHP-FPM/Nginx work exactly like this. A worker is a process; memory inside it survives from one request to the next unless PHP resets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bug. Atacatorul trimite un POST multipart/form-data uriaș, fără antetul Content-Length (cu Transfer-Encoding: chunked). Așa, limita post_max_size nu se aplică. Mii de părți și antete umplu memoria.
PHP rămâne fără memorie exact când datele cererii sunt pe jumătate construite și abandonează cererea. Dar rutina de curățare rulează oricum și tratează datele incomplete ca fiind valide: eliberează și folosește pointeri invalizi. Cu o așezare atentă a memoriei (heap), corupția devine execuție de cod.
Exemplul de pe slide e simplificat, scop didactic. PoC-ul public folosea un POST multipart cu un nume de fișier extrem de lung.
Ideea pentru studenți: căile de eroare sunt rar testate. Codul care tratează „memorie insuficientă” aproape nu rulează în viața reală, așa că bug-urile de acolo supraviețuiesc ani de zile. Pe mod_php e nevoie de o singură cerere per încercare; pentru PHP-FPM nu s-a arătat un exploit complet pentru acest CVE.
— English —
Simplified example; the public PoC used a multipart POST with an extremely long filename. The point for students: error paths are rarely tested. Code that handles 'out of memory' runs almost never in normal life, so bugs there survive for years. On mod_php the attack works before application code even starts. For PHP-FPM no full exploit was shown for this specific CVE.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bug e între două cereri. Cererea 1 („producătorul”) provoacă o eroare fatală: timeout, memorie epuizată, un require eșuat. PHP se oprește înainte să reseteze o parte din starea globală (erori, sesiune, backtrace), iar acea stare arată spre memorie deja eliberată.
Cererea 2 („consumatorul”) ajunge la același worker. Ceva rulează înainte de inițializarea normală, de exemplu progresul upload-ului din sesiune sau un avertisment de la o setare INI din .htaccess, și citește pointerul vechi: use-after-free, deci execuție de cod sau scurgere de memorie.
Atacatorul nu controlează la ce worker ajunge, așa că trimite multe perechi de cereri până nimerește.
Detaliu important din advisory: ascunderea erorilor (display_errors=Off, error_reporting, operatorul @) NU ajută. Starea veche e folosită chiar dacă nu se afișează și nu se loghează nimic. Deci „logurile mele sunt curate” nu e o dovadă că serverul e în siguranță.
— English —
This is the cross-request bug. Two requests have to land on the same worker; the attacker just sends many pairs until it works. Important detail from the advisory: hiding errors with display_errors=Off, error_reporting or @ does NOT help. The stale data is used even if nothing is printed or logged. So 'my logs are clean' is not proof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obține atacatorul:
1) Execuție de cod ca www-data. Pasul tipic următor: un webshell, adică un fișier PHP ascuns prin care revine oricând.
2) Chiar fără execuție de cod: citește din memorie parolele, sesiunile și cheile API ale altor utilizatori.
3) De acolo mai departe: citește config.php, ia parola bazei de date, descarcă toată baza. Circa 394 000 de servere PHP au și SSH expus, deci se poate muta și pe alte sisteme.
Legătura cu Lecția 1: vectorul CVSS AV:N/AC:H/AT:P/PR:N/UI:N/VC:H/VI:H/VA:H. Atac prin rețea, fără privilegii, fără interacțiunea utilizatorului, impact mare pe toate trei: confidențialitate, integritate, disponibilitate. Complexitatea e „High” pentru că depinde de așezarea memoriei și de ce worker primește cererea; de aceea 9.2 și nu 10.
Întrebare pentru studenți: care literă din triada CIA e încălcată de fiecare dintre cele trei carduri?
— English —
Link back to Lesson 1: CVSS vector AV:N/AC:H/AT:P/PR:N/UI:N/VC:H/VI:H/VA:H. Network attack, no privileges, no user interaction, high impact on C, I and A. AC:H (high complexity) because it depends on heap layout and worker scheduling, which is why it is 9.2 and not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o lecție despre dezvăluirea coordonată (coordinated disclosure). În mod normal: cercetătorul raportează în privat, producătorul repară, distribuțiile Linux pregătesc pachetele și toți publică în aceeași zi, ca administratorii să poată actualiza înainte să atace cineva.
Aici: Wiz Research găsește bug-urile în august (folosind și modele AI) și demonstrează atacul pe WordPress și Drupal. Pe 21 septembrie echipa PHP confirmă și începe lucrul. Pe 20 octombrie identificatorii CVE apar pe Hacker News înainte de termen. În noaptea de 21 octombrie o arhivă cu detalii apare pe VirusTotal, iar dimineața Patchstack și Cloudflare raportează primele încercări de atac, cu ore înainte să existe patch-ul. Practic o fereastră de zero-day.
La 13:52 UTC PHP publică versiunile reparate; CISA, CERT-EU și NCSC (Marea Britanie) emit alerte urgente; apar PoC-uri publice, unele nefuncționale.
Atenție la formulare: la momentul prezentării nu se știe încă câte atacuri au reușit.
— English —
This is a lesson in coordinated disclosure. Normally: researcher reports privately, vendor fixes, distros prepare packages, everyone publishes on the same day. Here the CVE IDs leaked a day early and an archive with details hit VirusTotal, so attacks started hours BEFORE the patch existed. That is effectively a zero-day window. Note: reports of attacks are early; the number of successful compromises was not confirmed at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Versiunile reparate, publicate pe 21 octombrie: 8.5.12, 8.4.27, 8.3.36, 8.2.35. PHP 8.1 și mai vechi nu mai sunt suportate: nu primesc versiune oficială, doar corecții la nivel de cod sursă pentru 7.4–8.1 sau pachete de la distribuții (Ubuntu, Red Hat etc.).
Ce schimbă patch-ul, pe scurt: curățarea nu mai lucrează cu date pe jumătate construite, starea globală e resetată între cereri, iar un worker care atinge limita de memorie e oprit, nu continuă.
Actualizarea e SINGURA soluție completă; advisory-ul spune clar că nu există o configurare care să elimine complet problema.
Capcană practică: „php -v” din terminal poate fi alt PHP decât cel care servește site-ul (FPM, container, panoul de hosting). Și după actualizare trebuie repornite procesele, altfel binarul vechi rulează în continuare în memorie.
— English —
Updating is the ONLY complete fix; the advisory says there is no complete configuration workaround. Practical gotcha: 'php -v' on the command line may be a different PHP than the one serving the website (FPM, a container, a hosting panel). After updating you must restart the workers, otherwise the old binary keeps running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Dacă nu poți actualiza imediat, există măsuri temporare. Ele reduc riscul, nu îl elimină.
În php.ini sau în configurația pool-ului FPM, apoi restart: dezactivezi session.upload_progress, fatal_error_backtraces (pe 8.5), limitezi mărimea cererilor; opțional pm.max_requests=1, adică fiecare worker servește o singură cerere (scump ca performanță). Setările trebuie puse în configurație, nu cu ini_set() în cod: bug-ul se declanșează înainte să pornească scriptul.
În fața serverului: WAF sau reverse proxy care limitează dimensiunea cererilor și numărul de părți multipart. Izolare: acces doar prin VPN sau listă de IP-uri, ori oprești serviciul (recomandarea CERT-EU). Verificare: cauți înapoi de pe 20 octombrie fișiere noi în directorul site-ului, procese lansate de php-fpm, trafic de ieșire neobișnuit.
Ce NU ajută: ascunderea erorilor sau a versiunii PHP. Securitatea prin obscuritate nu e protecție.
Întrebare pentru studenți: care dintre acestea sunt „apărare în adâncime”? (WAF, izolare, configurare = straturi; patch-ul = reparația reală.)
— English —
Settings must be set in php.ini or the pool config; ini_set() in code is too late because the bug fires before the script starts. Ask students: which of these is defense in depth? (WAF + isolation + config hardening are layers; the patch is the real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Lecțiile pentru noi:
1) Să știi ce rulezi. Fă inventarul fiecărui PHP: servere, containere, echipamente. Nu poți actualiza ce nu știi că există.
2) Versiunile ieșite din suport sunt un risc. Circa 880 000 de servere publice rulau versiuni care nu au primit nicio corecție (PHP 5, 7, 8.0, 8.1).
3) Actualizarea e un proces: rapid, imagini de container reconstruite automat, procese repornite.
4) Apărare în adâncime: cod sigur nu ajunge. Privilegii minime pentru www-data, firewall, WAF, monitorizare.
În laboratoare: Lab 4 (unattended-upgrades pe server) și Lab 5 (limite în Nginx, reverse proxy) sunt exact aceste controale.
Cifrele de expunere sunt estimări din scanări ale internetului (Mallory.ai / Phoenix Security, Modat ~4,4 milioane de servicii PHP), le prezentăm ca ordine de mărime. Merită spus și că AI a fost folosit atât pentru găsirea bug-urilor, cât și, la câteva ore după scurgere, pentru încercarea de a le reproduce: timpul dintre publicare și atac se scurtează.
— English —
Exposure numbers are estimates from internet scans (Mallory.ai / Phoenix Security, Modat ~4.4 million PHP services). Treat them as directional. Also worth mentioning: AI tools were used both to find these bugs and, within hours of the leak, to try to reproduce them. The time between disclosure and attack keeps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Încheiere și discuție: „Cum ați găsi într-o oră fiecare instalare PHP dintr-o organizație?” Răspunsuri bune: scanare de rețea, inventar de pachete pe servere, scanarea imaginilor de container, întrebat furnizorii de echipamente, căutat antetul X-Powered-By.
Surse: advisory-urile PHP GHSA-w8hw-w9fx-j79w și GHSA-6wmf-4rv5-p3rp; alerta CISA din 21.10.2026; Rapid7, Qualys, Google Cloud, Recorded Future, SANS ISC, Infosecurity Magazine, UW-IT. Unele detalii (numărul exact de atacuri reușite) erau încă în evoluție pe 22.10.2026.
— English —
Sources: PHP advisories GHSA-w8hw-w9fx-j79w and GHSA-6wmf-4rv5-p3rp; CISA alert 21 Oct 2026; Rapid7, Qualys, Google Cloud, Recorded Future, SANS ISC, Infosecurity Magazine, Univ. of Washington IT. Some details (exact attack counts) were still developing on 22 Oct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64592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r>
              <a:rPr lang="en-US" sz="4800" b="1" dirty="0">
                <a:solidFill>
                  <a:schemeClr val="bg1"/>
                </a:solidFill>
                <a:latin typeface="Cambria" pitchFamily="34" charset="0"/>
                <a:ea typeface="Cambria" pitchFamily="34" charset="-122"/>
                <a:cs typeface="Cambria" pitchFamily="34" charset="-120"/>
              </a:rPr>
              <a:t>Title</a:t>
            </a:r>
            <a:endParaRPr lang="en-US" sz="4800" dirty="0"/>
          </a:p>
        </p:txBody>
      </p:sp>
      <p:sp>
        <p:nvSpPr>
          <p:cNvPr id="3" name="Text 0"/>
          <p:cNvSpPr/>
          <p:nvPr>
            <p:ph idx="101" type="body" hasCustomPrompt="1"/>
          </p:nvPr>
        </p:nvSpPr>
        <p:spPr>
          <a:xfrm>
            <a:off x="731520" y="3931920"/>
            <a:ext cx="10698480" cy="1097280"/>
          </a:xfrm>
          <a:prstGeom prst="rect">
            <a:avLst/>
          </a:prstGeom>
          <a:noFill/>
          <a:ln/>
        </p:spPr>
        <p:txBody>
          <a:bodyPr wrap="square" rtlCol="0"/>
          <a:lstStyle>
            <a:lvl1pPr indent="0" marL="0">
              <a:buNone/>
              <a:defRPr lang="en-US" sz="2200" dirty="0">
                <a:solidFill>
                  <a:schemeClr val="accent1"/>
                </a:solidFill>
                <a:latin typeface="Calibri" pitchFamily="34" charset="0"/>
                <a:ea typeface="Calibri" pitchFamily="34" charset="-122"/>
                <a:cs typeface="Calibri" pitchFamily="34" charset="-120"/>
              </a:defRPr>
            </a:lvl1pPr>
          </a:lstStyle>
          <a:p>
            <a:pPr indent="0" marL="0">
              <a:buNone/>
            </a:pPr>
            <a:r>
              <a:rPr lang="en-US" sz="2200" dirty="0">
                <a:solidFill>
                  <a:schemeClr val="accent1"/>
                </a:solidFill>
                <a:latin typeface="Calibri" pitchFamily="34" charset="0"/>
                <a:ea typeface="Calibri" pitchFamily="34" charset="-122"/>
                <a:cs typeface="Calibri" pitchFamily="34" charset="-120"/>
              </a:rPr>
              <a:t>Subtitle</a:t>
            </a: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474720" y="2651760"/>
            <a:ext cx="5943600" cy="91440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Section</a:t>
            </a:r>
            <a:endParaRPr lang="en-US" sz="4400" dirty="0"/>
          </a:p>
        </p:txBody>
      </p:sp>
      <p:sp>
        <p:nvSpPr>
          <p:cNvPr id="3" name="Text 0"/>
          <p:cNvSpPr/>
          <p:nvPr>
            <p:ph idx="101" type="body" hasCustomPrompt="1"/>
          </p:nvPr>
        </p:nvSpPr>
        <p:spPr>
          <a:xfrm>
            <a:off x="3474720" y="3611880"/>
            <a:ext cx="5943600" cy="731520"/>
          </a:xfrm>
          <a:prstGeom prst="rect">
            <a:avLst/>
          </a:prstGeom>
          <a:noFill/>
          <a:ln/>
        </p:spPr>
        <p:txBody>
          <a:bodyPr wrap="square" rtlCol="0"/>
          <a:lstStyle>
            <a:lvl1pPr algn="l" indent="0" marL="0">
              <a:buNone/>
              <a:defRPr lang="en-US" sz="2000" dirty="0">
                <a:solidFill>
                  <a:schemeClr val="accent1"/>
                </a:solidFill>
                <a:latin typeface="Calibri" pitchFamily="34" charset="0"/>
                <a:ea typeface="Calibri" pitchFamily="34" charset="-122"/>
                <a:cs typeface="Calibri" pitchFamily="34" charset="-120"/>
              </a:defRPr>
            </a:lvl1pPr>
          </a:lstStyle>
          <a:p>
            <a:pPr algn="l" indent="0" marL="0">
              <a:buNone/>
            </a:pPr>
            <a:r>
              <a:rPr lang="en-US" sz="2000" dirty="0">
                <a:solidFill>
                  <a:schemeClr val="accent1"/>
                </a:solidFill>
                <a:latin typeface="Calibri" pitchFamily="34" charset="0"/>
                <a:ea typeface="Calibri" pitchFamily="34" charset="-122"/>
                <a:cs typeface="Calibri" pitchFamily="34" charset="-120"/>
              </a:rPr>
              <a:t>Subtitle</a:t>
            </a: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Web Application &amp; Infrastructure Security  ·  Case study: PHP2Shell</a:t>
            </a:r>
            <a:endParaRPr lang="en-US" sz="1000" dirty="0"/>
          </a:p>
        </p:txBody>
      </p:sp>
      <p:sp>
        <p:nvSpPr>
          <p:cNvPr id="3" name="Text 1"/>
          <p:cNvSpPr/>
          <p:nvPr>
            <p:ph idx="101" type="title" hasCustomPrompt="1"/>
          </p:nvPr>
        </p:nvSpPr>
        <p:spPr>
          <a:xfrm>
            <a:off x="548640" y="320040"/>
            <a:ext cx="11064240" cy="822960"/>
          </a:xfrm>
          <a:prstGeom prst="rect">
            <a:avLst/>
          </a:prstGeom>
          <a:noFill/>
          <a:ln/>
        </p:spPr>
        <p:txBody>
          <a:bodyPr wrap="square" rtlCol="0"/>
          <a:lstStyle>
            <a:lvl1pPr algn="l" indent="0" marL="0">
              <a:buNone/>
              <a:defRPr lang="en-US" sz="3600" b="1" dirty="0">
                <a:solidFill>
                  <a:schemeClr val="tx2"/>
                </a:solidFill>
                <a:latin typeface="Cambria" pitchFamily="34" charset="0"/>
                <a:ea typeface="Cambria" pitchFamily="34" charset="-122"/>
                <a:cs typeface="Cambria" pitchFamily="34" charset="-120"/>
              </a:defRPr>
            </a:lvl1pPr>
          </a:lstStyle>
          <a:p>
            <a:pPr algn="l" indent="0" marL="0">
              <a:buNone/>
            </a:pPr>
            <a:r>
              <a:rPr lang="en-US" sz="3600" b="1" dirty="0">
                <a:solidFill>
                  <a:schemeClr val="tx2"/>
                </a:solidFill>
                <a:latin typeface="Cambria" pitchFamily="34" charset="0"/>
                <a:ea typeface="Cambria" pitchFamily="34" charset="-122"/>
                <a:cs typeface="Cambria" pitchFamily="34" charset="-120"/>
              </a:rPr>
              <a:t>Title</a:t>
            </a:r>
            <a:endParaRPr lang="en-US" sz="3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64592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PHP2Shell: when the language itself is vulnerable</a:t>
            </a:r>
            <a:endParaRPr lang="en-US" sz="4800" dirty="0"/>
          </a:p>
        </p:txBody>
      </p:sp>
      <p:sp>
        <p:nvSpPr>
          <p:cNvPr id="3" name="Text 0"/>
          <p:cNvSpPr/>
          <p:nvPr>
            <p:ph idx="101" type="body" hasCustomPrompt="1"/>
          </p:nvPr>
        </p:nvSpPr>
        <p:spPr>
          <a:xfrm>
            <a:off x="731520" y="3931920"/>
            <a:ext cx="10698480" cy="1097280"/>
          </a:xfrm>
          <a:prstGeom prst="rect">
            <a:avLst/>
          </a:prstGeom>
          <a:noFill/>
          <a:ln/>
        </p:spPr>
        <p:txBody>
          <a:bodyPr wrap="square" lIns="0" tIns="0" rIns="0" bIns="0" rtlCol="0" anchor="t"/>
          <a:lstStyle/>
          <a:p>
            <a:pPr algn="l" indent="0" marL="0">
              <a:buNone/>
            </a:pPr>
            <a:r>
              <a:rPr lang="en-US" sz="2200" dirty="0">
                <a:solidFill>
                  <a:schemeClr val="accent1"/>
                </a:solidFill>
                <a:latin typeface="Calibri" pitchFamily="34" charset="0"/>
                <a:ea typeface="Calibri" pitchFamily="34" charset="-122"/>
                <a:cs typeface="Calibri" pitchFamily="34" charset="-120"/>
              </a:rPr>
              <a:t>CVE-2026-109618 &amp; CVE-2026-109619  ·  Case study, October 2026</a:t>
            </a:r>
            <a:endParaRPr lang="en-US" sz="2200" dirty="0"/>
          </a:p>
        </p:txBody>
      </p:sp>
      <p:pic>
        <p:nvPicPr>
          <p:cNvPr id="4" name="Bug icon" descr="Bug">    </p:cNvPr>
          <p:cNvPicPr>
            <a:picLocks noChangeAspect="1"/>
          </p:cNvPicPr>
          <p:nvPr/>
        </p:nvPicPr>
        <p:blipFill>
          <a:blip r:embed="rId1"/>
          <a:stretch>
            <a:fillRect/>
          </a:stretch>
        </p:blipFill>
        <p:spPr>
          <a:xfrm>
            <a:off x="731520" y="914400"/>
            <a:ext cx="822960" cy="822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PHP2Shell in one slide</a:t>
            </a:r>
            <a:endParaRPr lang="en-US" sz="3600" dirty="0"/>
          </a:p>
        </p:txBody>
      </p:sp>
      <p:sp>
        <p:nvSpPr>
          <p:cNvPr id="3" name="Stat card 1"/>
          <p:cNvSpPr/>
          <p:nvPr/>
        </p:nvSpPr>
        <p:spPr>
          <a:xfrm>
            <a:off x="548640" y="1463040"/>
            <a:ext cx="2560320" cy="2651760"/>
          </a:xfrm>
          <a:prstGeom prst="roundRect">
            <a:avLst>
              <a:gd name="adj" fmla="val 4286"/>
            </a:avLst>
          </a:prstGeom>
          <a:solidFill>
            <a:schemeClr val="bg2"/>
          </a:solidFill>
          <a:ln/>
        </p:spPr>
      </p:sp>
      <p:sp>
        <p:nvSpPr>
          <p:cNvPr id="4" name="Text 2"/>
          <p:cNvSpPr txBox="1"/>
          <p:nvPr/>
        </p:nvSpPr>
        <p:spPr>
          <a:xfrm>
            <a:off x="777240" y="1691640"/>
            <a:ext cx="2103120" cy="91440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9.2</a:t>
            </a:r>
            <a:endParaRPr lang="en-US" sz="4800" dirty="0"/>
          </a:p>
        </p:txBody>
      </p:sp>
      <p:sp>
        <p:nvSpPr>
          <p:cNvPr id="5" name="Text 3"/>
          <p:cNvSpPr txBox="1"/>
          <p:nvPr/>
        </p:nvSpPr>
        <p:spPr>
          <a:xfrm>
            <a:off x="777240" y="2743200"/>
            <a:ext cx="2103120" cy="11887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CVSS v4.0, Critical (both CVEs)</a:t>
            </a:r>
            <a:endParaRPr lang="en-US" sz="1600" dirty="0"/>
          </a:p>
        </p:txBody>
      </p:sp>
      <p:sp>
        <p:nvSpPr>
          <p:cNvPr id="6" name="Stat card 2"/>
          <p:cNvSpPr/>
          <p:nvPr/>
        </p:nvSpPr>
        <p:spPr>
          <a:xfrm>
            <a:off x="3383280" y="1463040"/>
            <a:ext cx="2560320" cy="2651760"/>
          </a:xfrm>
          <a:prstGeom prst="roundRect">
            <a:avLst>
              <a:gd name="adj" fmla="val 4286"/>
            </a:avLst>
          </a:prstGeom>
          <a:solidFill>
            <a:schemeClr val="bg2"/>
          </a:solidFill>
          <a:ln/>
        </p:spPr>
      </p:sp>
      <p:sp>
        <p:nvSpPr>
          <p:cNvPr id="7" name="Text 5"/>
          <p:cNvSpPr txBox="1"/>
          <p:nvPr/>
        </p:nvSpPr>
        <p:spPr>
          <a:xfrm>
            <a:off x="3611880" y="1691640"/>
            <a:ext cx="2103120" cy="91440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0</a:t>
            </a:r>
            <a:endParaRPr lang="en-US" sz="4800" dirty="0"/>
          </a:p>
        </p:txBody>
      </p:sp>
      <p:sp>
        <p:nvSpPr>
          <p:cNvPr id="8" name="Text 6"/>
          <p:cNvSpPr txBox="1"/>
          <p:nvPr/>
        </p:nvSpPr>
        <p:spPr>
          <a:xfrm>
            <a:off x="3611880" y="2743200"/>
            <a:ext cx="2103120" cy="11887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credentials or clicks needed: remote and unauthenticated</a:t>
            </a:r>
            <a:endParaRPr lang="en-US" sz="1600" dirty="0"/>
          </a:p>
        </p:txBody>
      </p:sp>
      <p:sp>
        <p:nvSpPr>
          <p:cNvPr id="9" name="Stat card 3"/>
          <p:cNvSpPr/>
          <p:nvPr/>
        </p:nvSpPr>
        <p:spPr>
          <a:xfrm>
            <a:off x="6217920" y="1463040"/>
            <a:ext cx="2560320" cy="2651760"/>
          </a:xfrm>
          <a:prstGeom prst="roundRect">
            <a:avLst>
              <a:gd name="adj" fmla="val 4286"/>
            </a:avLst>
          </a:prstGeom>
          <a:solidFill>
            <a:schemeClr val="bg2"/>
          </a:solidFill>
          <a:ln/>
        </p:spPr>
      </p:sp>
      <p:sp>
        <p:nvSpPr>
          <p:cNvPr id="10" name="Text 8"/>
          <p:cNvSpPr txBox="1"/>
          <p:nvPr/>
        </p:nvSpPr>
        <p:spPr>
          <a:xfrm>
            <a:off x="6446520" y="1691640"/>
            <a:ext cx="2103120" cy="91440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~70%</a:t>
            </a:r>
            <a:endParaRPr lang="en-US" sz="4800" dirty="0"/>
          </a:p>
        </p:txBody>
      </p:sp>
      <p:sp>
        <p:nvSpPr>
          <p:cNvPr id="11" name="Text 9"/>
          <p:cNvSpPr txBox="1"/>
          <p:nvPr/>
        </p:nvSpPr>
        <p:spPr>
          <a:xfrm>
            <a:off x="6446520" y="2743200"/>
            <a:ext cx="2103120" cy="11887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of websites with a known back-end language run PHP (W3Techs)</a:t>
            </a:r>
            <a:endParaRPr lang="en-US" sz="1600" dirty="0"/>
          </a:p>
        </p:txBody>
      </p:sp>
      <p:sp>
        <p:nvSpPr>
          <p:cNvPr id="12" name="Stat card 4"/>
          <p:cNvSpPr/>
          <p:nvPr/>
        </p:nvSpPr>
        <p:spPr>
          <a:xfrm>
            <a:off x="9052560" y="1463040"/>
            <a:ext cx="2560320" cy="2651760"/>
          </a:xfrm>
          <a:prstGeom prst="roundRect">
            <a:avLst>
              <a:gd name="adj" fmla="val 4286"/>
            </a:avLst>
          </a:prstGeom>
          <a:solidFill>
            <a:schemeClr val="bg2"/>
          </a:solidFill>
          <a:ln/>
        </p:spPr>
      </p:sp>
      <p:sp>
        <p:nvSpPr>
          <p:cNvPr id="13" name="Text 11"/>
          <p:cNvSpPr txBox="1"/>
          <p:nvPr/>
        </p:nvSpPr>
        <p:spPr>
          <a:xfrm>
            <a:off x="9281160" y="1691640"/>
            <a:ext cx="2103120" cy="91440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5.4 → 8.5.11</a:t>
            </a:r>
            <a:endParaRPr lang="en-US" sz="3000" dirty="0"/>
          </a:p>
        </p:txBody>
      </p:sp>
      <p:sp>
        <p:nvSpPr>
          <p:cNvPr id="14" name="Text 12"/>
          <p:cNvSpPr txBox="1"/>
          <p:nvPr/>
        </p:nvSpPr>
        <p:spPr>
          <a:xfrm>
            <a:off x="9281160" y="2743200"/>
            <a:ext cx="2103120" cy="11887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every version in this range is vulnerable</a:t>
            </a:r>
            <a:endParaRPr lang="en-US" sz="1600" dirty="0"/>
          </a:p>
        </p:txBody>
      </p:sp>
      <p:sp>
        <p:nvSpPr>
          <p:cNvPr id="15" name="Summary card"/>
          <p:cNvSpPr/>
          <p:nvPr/>
        </p:nvSpPr>
        <p:spPr>
          <a:xfrm>
            <a:off x="548640" y="4434840"/>
            <a:ext cx="11064240" cy="1600200"/>
          </a:xfrm>
          <a:prstGeom prst="roundRect">
            <a:avLst>
              <a:gd name="adj" fmla="val 6857"/>
            </a:avLst>
          </a:prstGeom>
          <a:solidFill>
            <a:schemeClr val="bg2"/>
          </a:solidFill>
          <a:ln/>
        </p:spPr>
      </p:sp>
      <p:sp>
        <p:nvSpPr>
          <p:cNvPr id="16" name="Terminal circle"/>
          <p:cNvSpPr/>
          <p:nvPr/>
        </p:nvSpPr>
        <p:spPr>
          <a:xfrm>
            <a:off x="868680" y="4800600"/>
            <a:ext cx="868680" cy="868680"/>
          </a:xfrm>
          <a:prstGeom prst="ellipse">
            <a:avLst/>
          </a:prstGeom>
          <a:solidFill>
            <a:schemeClr val="accent3"/>
          </a:solidFill>
          <a:ln/>
        </p:spPr>
      </p:sp>
      <p:pic>
        <p:nvPicPr>
          <p:cNvPr id="17" name="Terminal icon" descr="Terminal">    </p:cNvPr>
          <p:cNvPicPr>
            <a:picLocks noChangeAspect="1"/>
          </p:cNvPicPr>
          <p:nvPr/>
        </p:nvPicPr>
        <p:blipFill>
          <a:blip r:embed="rId1"/>
          <a:stretch>
            <a:fillRect/>
          </a:stretch>
        </p:blipFill>
        <p:spPr>
          <a:xfrm>
            <a:off x="1085850" y="5017770"/>
            <a:ext cx="434340" cy="434340"/>
          </a:xfrm>
          <a:prstGeom prst="rect">
            <a:avLst/>
          </a:prstGeom>
        </p:spPr>
      </p:pic>
      <p:sp>
        <p:nvSpPr>
          <p:cNvPr id="18" name="Text 15"/>
          <p:cNvSpPr txBox="1"/>
          <p:nvPr/>
        </p:nvSpPr>
        <p:spPr>
          <a:xfrm>
            <a:off x="2011680" y="4434840"/>
            <a:ext cx="9326880" cy="160020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Two memory-safety bugs in the PHP interpreter (written in C). </a:t>
            </a:r>
            <a:pPr indent="0" marL="0">
              <a:buNone/>
            </a:pPr>
            <a:r>
              <a:rPr lang="en-US" sz="1700" dirty="0">
                <a:solidFill>
                  <a:schemeClr val="tx1"/>
                </a:solidFill>
                <a:latin typeface="Calibri" pitchFamily="34" charset="0"/>
                <a:ea typeface="Calibri" pitchFamily="34" charset="-122"/>
                <a:cs typeface="Calibri" pitchFamily="34" charset="-120"/>
              </a:rPr>
              <a:t>With specially crafted HTTP requests an attacker can run their own code on the server, or read memory from other users' requests: passwords, session tokens, API keys.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Who was affected</a:t>
            </a:r>
            <a:endParaRPr lang="en-US" sz="3600" dirty="0"/>
          </a:p>
        </p:txBody>
      </p:sp>
      <p:sp>
        <p:nvSpPr>
          <p:cNvPr id="3" name="CMS and shops card"/>
          <p:cNvSpPr/>
          <p:nvPr/>
        </p:nvSpPr>
        <p:spPr>
          <a:xfrm>
            <a:off x="548640" y="1463040"/>
            <a:ext cx="5440680" cy="1600200"/>
          </a:xfrm>
          <a:prstGeom prst="roundRect">
            <a:avLst>
              <a:gd name="adj" fmla="val 6857"/>
            </a:avLst>
          </a:prstGeom>
          <a:solidFill>
            <a:schemeClr val="bg2"/>
          </a:solidFill>
          <a:ln/>
        </p:spPr>
      </p:sp>
      <p:sp>
        <p:nvSpPr>
          <p:cNvPr id="4" name="CMS and shops circle"/>
          <p:cNvSpPr/>
          <p:nvPr/>
        </p:nvSpPr>
        <p:spPr>
          <a:xfrm>
            <a:off x="822960" y="1783080"/>
            <a:ext cx="868680" cy="868680"/>
          </a:xfrm>
          <a:prstGeom prst="ellipse">
            <a:avLst/>
          </a:prstGeom>
          <a:solidFill>
            <a:schemeClr val="tx2"/>
          </a:solidFill>
          <a:ln/>
        </p:spPr>
      </p:sp>
      <p:pic>
        <p:nvPicPr>
          <p:cNvPr id="5" name="CMS and shops icon" descr="CMS and shops">    </p:cNvPr>
          <p:cNvPicPr>
            <a:picLocks noChangeAspect="1"/>
          </p:cNvPicPr>
          <p:nvPr/>
        </p:nvPicPr>
        <p:blipFill>
          <a:blip r:embed="rId1"/>
          <a:stretch>
            <a:fillRect/>
          </a:stretch>
        </p:blipFill>
        <p:spPr>
          <a:xfrm>
            <a:off x="1040130" y="2000250"/>
            <a:ext cx="434340" cy="434340"/>
          </a:xfrm>
          <a:prstGeom prst="rect">
            <a:avLst/>
          </a:prstGeom>
        </p:spPr>
      </p:pic>
      <p:sp>
        <p:nvSpPr>
          <p:cNvPr id="6" name="Text 3"/>
          <p:cNvSpPr txBox="1"/>
          <p:nvPr/>
        </p:nvSpPr>
        <p:spPr>
          <a:xfrm>
            <a:off x="1920240" y="164592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CMS and shops</a:t>
            </a:r>
            <a:endParaRPr lang="en-US" sz="2000" dirty="0"/>
          </a:p>
        </p:txBody>
      </p:sp>
      <p:sp>
        <p:nvSpPr>
          <p:cNvPr id="7" name="Text 4"/>
          <p:cNvSpPr txBox="1"/>
          <p:nvPr/>
        </p:nvSpPr>
        <p:spPr>
          <a:xfrm>
            <a:off x="1920240" y="2057400"/>
            <a:ext cx="3886200"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WordPress, WooCommerce, Drupal, Joomla, Magento / Adobe Commerce. RCE demonstrated on WordPress, Drupal and Joomla.</a:t>
            </a:r>
            <a:endParaRPr lang="en-US" sz="1400" dirty="0"/>
          </a:p>
        </p:txBody>
      </p:sp>
      <p:sp>
        <p:nvSpPr>
          <p:cNvPr id="8" name="Hosting and cloud card"/>
          <p:cNvSpPr/>
          <p:nvPr/>
        </p:nvSpPr>
        <p:spPr>
          <a:xfrm>
            <a:off x="6172200" y="1463040"/>
            <a:ext cx="5440680" cy="1600200"/>
          </a:xfrm>
          <a:prstGeom prst="roundRect">
            <a:avLst>
              <a:gd name="adj" fmla="val 6857"/>
            </a:avLst>
          </a:prstGeom>
          <a:solidFill>
            <a:schemeClr val="bg2"/>
          </a:solidFill>
          <a:ln/>
        </p:spPr>
      </p:sp>
      <p:sp>
        <p:nvSpPr>
          <p:cNvPr id="9" name="Hosting and cloud circle"/>
          <p:cNvSpPr/>
          <p:nvPr/>
        </p:nvSpPr>
        <p:spPr>
          <a:xfrm>
            <a:off x="6446520" y="1783080"/>
            <a:ext cx="868680" cy="868680"/>
          </a:xfrm>
          <a:prstGeom prst="ellipse">
            <a:avLst/>
          </a:prstGeom>
          <a:solidFill>
            <a:schemeClr val="tx2"/>
          </a:solidFill>
          <a:ln/>
        </p:spPr>
      </p:sp>
      <p:pic>
        <p:nvPicPr>
          <p:cNvPr id="10" name="Hosting and cloud icon" descr="Hosting and cloud">    </p:cNvPr>
          <p:cNvPicPr>
            <a:picLocks noChangeAspect="1"/>
          </p:cNvPicPr>
          <p:nvPr/>
        </p:nvPicPr>
        <p:blipFill>
          <a:blip r:embed="rId2"/>
          <a:stretch>
            <a:fillRect/>
          </a:stretch>
        </p:blipFill>
        <p:spPr>
          <a:xfrm>
            <a:off x="6663690" y="2000250"/>
            <a:ext cx="434340" cy="434340"/>
          </a:xfrm>
          <a:prstGeom prst="rect">
            <a:avLst/>
          </a:prstGeom>
        </p:spPr>
      </p:pic>
      <p:sp>
        <p:nvSpPr>
          <p:cNvPr id="11" name="Text 7"/>
          <p:cNvSpPr txBox="1"/>
          <p:nvPr/>
        </p:nvSpPr>
        <p:spPr>
          <a:xfrm>
            <a:off x="7543800" y="164592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Hosting and cloud</a:t>
            </a:r>
            <a:endParaRPr lang="en-US" sz="2000" dirty="0"/>
          </a:p>
        </p:txBody>
      </p:sp>
      <p:sp>
        <p:nvSpPr>
          <p:cNvPr id="12" name="Text 8"/>
          <p:cNvSpPr txBox="1"/>
          <p:nvPr/>
        </p:nvSpPr>
        <p:spPr>
          <a:xfrm>
            <a:off x="7543800" y="2057400"/>
            <a:ext cx="3886200"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Shared hosting, Hostinger, AWS, Alibaba Cloud. Google App Engine and Cloud Run patched images; GKE and custom containers had to be rebuilt.</a:t>
            </a:r>
            <a:endParaRPr lang="en-US" sz="1400" dirty="0"/>
          </a:p>
        </p:txBody>
      </p:sp>
      <p:sp>
        <p:nvSpPr>
          <p:cNvPr id="13" name="Devices with a web UI card"/>
          <p:cNvSpPr/>
          <p:nvPr/>
        </p:nvSpPr>
        <p:spPr>
          <a:xfrm>
            <a:off x="548640" y="3291840"/>
            <a:ext cx="5440680" cy="1600200"/>
          </a:xfrm>
          <a:prstGeom prst="roundRect">
            <a:avLst>
              <a:gd name="adj" fmla="val 6857"/>
            </a:avLst>
          </a:prstGeom>
          <a:solidFill>
            <a:schemeClr val="bg2"/>
          </a:solidFill>
          <a:ln/>
        </p:spPr>
      </p:sp>
      <p:sp>
        <p:nvSpPr>
          <p:cNvPr id="14" name="Devices with a web UI circle"/>
          <p:cNvSpPr/>
          <p:nvPr/>
        </p:nvSpPr>
        <p:spPr>
          <a:xfrm>
            <a:off x="822960" y="3611880"/>
            <a:ext cx="868680" cy="868680"/>
          </a:xfrm>
          <a:prstGeom prst="ellipse">
            <a:avLst/>
          </a:prstGeom>
          <a:solidFill>
            <a:schemeClr val="tx2"/>
          </a:solidFill>
          <a:ln/>
        </p:spPr>
      </p:sp>
      <p:pic>
        <p:nvPicPr>
          <p:cNvPr id="15" name="Devices with a web UI icon" descr="Devices with a web UI">    </p:cNvPr>
          <p:cNvPicPr>
            <a:picLocks noChangeAspect="1"/>
          </p:cNvPicPr>
          <p:nvPr/>
        </p:nvPicPr>
        <p:blipFill>
          <a:blip r:embed="rId3"/>
          <a:stretch>
            <a:fillRect/>
          </a:stretch>
        </p:blipFill>
        <p:spPr>
          <a:xfrm>
            <a:off x="1040130" y="3829050"/>
            <a:ext cx="434340" cy="434340"/>
          </a:xfrm>
          <a:prstGeom prst="rect">
            <a:avLst/>
          </a:prstGeom>
        </p:spPr>
      </p:pic>
      <p:sp>
        <p:nvSpPr>
          <p:cNvPr id="16" name="Text 11"/>
          <p:cNvSpPr txBox="1"/>
          <p:nvPr/>
        </p:nvSpPr>
        <p:spPr>
          <a:xfrm>
            <a:off x="1920240" y="347472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Devices with a web UI</a:t>
            </a:r>
            <a:endParaRPr lang="en-US" sz="2000" dirty="0"/>
          </a:p>
        </p:txBody>
      </p:sp>
      <p:sp>
        <p:nvSpPr>
          <p:cNvPr id="17" name="Text 12"/>
          <p:cNvSpPr txBox="1"/>
          <p:nvPr/>
        </p:nvSpPr>
        <p:spPr>
          <a:xfrm>
            <a:off x="1920240" y="3886200"/>
            <a:ext cx="3886200"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Firewalls and appliances that use PHP: pfSense, OPNsense, Cisco and Palo Alto products published bulletins.</a:t>
            </a:r>
            <a:endParaRPr lang="en-US" sz="1400" dirty="0"/>
          </a:p>
        </p:txBody>
      </p:sp>
      <p:sp>
        <p:nvSpPr>
          <p:cNvPr id="18" name="Universities, companies card"/>
          <p:cNvSpPr/>
          <p:nvPr/>
        </p:nvSpPr>
        <p:spPr>
          <a:xfrm>
            <a:off x="6172200" y="3291840"/>
            <a:ext cx="5440680" cy="1600200"/>
          </a:xfrm>
          <a:prstGeom prst="roundRect">
            <a:avLst>
              <a:gd name="adj" fmla="val 6857"/>
            </a:avLst>
          </a:prstGeom>
          <a:solidFill>
            <a:schemeClr val="bg2"/>
          </a:solidFill>
          <a:ln/>
        </p:spPr>
      </p:sp>
      <p:sp>
        <p:nvSpPr>
          <p:cNvPr id="19" name="Universities, companies circle"/>
          <p:cNvSpPr/>
          <p:nvPr/>
        </p:nvSpPr>
        <p:spPr>
          <a:xfrm>
            <a:off x="6446520" y="3611880"/>
            <a:ext cx="868680" cy="868680"/>
          </a:xfrm>
          <a:prstGeom prst="ellipse">
            <a:avLst/>
          </a:prstGeom>
          <a:solidFill>
            <a:schemeClr val="tx2"/>
          </a:solidFill>
          <a:ln/>
        </p:spPr>
      </p:sp>
      <p:pic>
        <p:nvPicPr>
          <p:cNvPr id="20" name="Universities, companies icon" descr="Universities, companies">    </p:cNvPr>
          <p:cNvPicPr>
            <a:picLocks noChangeAspect="1"/>
          </p:cNvPicPr>
          <p:nvPr/>
        </p:nvPicPr>
        <p:blipFill>
          <a:blip r:embed="rId4"/>
          <a:stretch>
            <a:fillRect/>
          </a:stretch>
        </p:blipFill>
        <p:spPr>
          <a:xfrm>
            <a:off x="6663690" y="3829050"/>
            <a:ext cx="434340" cy="434340"/>
          </a:xfrm>
          <a:prstGeom prst="rect">
            <a:avLst/>
          </a:prstGeom>
        </p:spPr>
      </p:pic>
      <p:sp>
        <p:nvSpPr>
          <p:cNvPr id="21" name="Text 15"/>
          <p:cNvSpPr txBox="1"/>
          <p:nvPr/>
        </p:nvSpPr>
        <p:spPr>
          <a:xfrm>
            <a:off x="7543800" y="347472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Universities, companies</a:t>
            </a:r>
            <a:endParaRPr lang="en-US" sz="2000" dirty="0"/>
          </a:p>
        </p:txBody>
      </p:sp>
      <p:sp>
        <p:nvSpPr>
          <p:cNvPr id="22" name="Text 16"/>
          <p:cNvSpPr txBox="1"/>
          <p:nvPr/>
        </p:nvSpPr>
        <p:spPr>
          <a:xfrm>
            <a:off x="7543800" y="3886200"/>
            <a:ext cx="3886200"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Nextcloud, phpMyAdmin, internal portals. Univ. of Washington cut network access (null route) to unpatched servers.</a:t>
            </a:r>
            <a:endParaRPr lang="en-US" sz="1400" dirty="0"/>
          </a:p>
        </p:txBody>
      </p:sp>
      <p:sp>
        <p:nvSpPr>
          <p:cNvPr id="23" name="Text 17"/>
          <p:cNvSpPr txBox="1"/>
          <p:nvPr/>
        </p:nvSpPr>
        <p:spPr>
          <a:xfrm>
            <a:off x="548640" y="5257800"/>
            <a:ext cx="11064240" cy="731520"/>
          </a:xfrm>
          <a:prstGeom prst="rect">
            <a:avLst/>
          </a:prstGeom>
          <a:noFill/>
          <a:ln/>
        </p:spPr>
        <p:txBody>
          <a:bodyPr wrap="square" lIns="0" tIns="0" rIns="0" bIns="0"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Key idea: </a:t>
            </a:r>
            <a:pPr indent="0" marL="0">
              <a:buNone/>
            </a:pPr>
            <a:r>
              <a:rPr lang="en-US" sz="1800" dirty="0">
                <a:solidFill>
                  <a:schemeClr val="tx1"/>
                </a:solidFill>
                <a:latin typeface="Calibri" pitchFamily="34" charset="0"/>
                <a:ea typeface="Calibri" pitchFamily="34" charset="-122"/>
                <a:cs typeface="Calibri" pitchFamily="34" charset="-120"/>
              </a:rPr>
              <a:t>the application code could be 100% correct and still be hacked. The bug is in the runtime, below the application.</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Background: PHP workers are reused</a:t>
            </a:r>
            <a:endParaRPr lang="en-US" sz="3600" dirty="0"/>
          </a:p>
        </p:txBody>
      </p:sp>
      <p:sp>
        <p:nvSpPr>
          <p:cNvPr id="3" name="Step 1"/>
          <p:cNvSpPr/>
          <p:nvPr/>
        </p:nvSpPr>
        <p:spPr>
          <a:xfrm>
            <a:off x="548640" y="1600200"/>
            <a:ext cx="1965960" cy="1371600"/>
          </a:xfrm>
          <a:prstGeom prst="roundRect">
            <a:avLst>
              <a:gd name="adj" fmla="val 8000"/>
            </a:avLst>
          </a:prstGeom>
          <a:solidFill>
            <a:schemeClr val="tx2"/>
          </a:solidFill>
          <a:ln/>
        </p:spPr>
      </p:sp>
      <p:sp>
        <p:nvSpPr>
          <p:cNvPr id="4" name="Text 2"/>
          <p:cNvSpPr txBox="1"/>
          <p:nvPr/>
        </p:nvSpPr>
        <p:spPr>
          <a:xfrm>
            <a:off x="685800" y="1737360"/>
            <a:ext cx="1691640" cy="457200"/>
          </a:xfrm>
          <a:prstGeom prst="rect">
            <a:avLst/>
          </a:prstGeom>
          <a:noFill/>
          <a:ln/>
        </p:spPr>
        <p:txBody>
          <a:bodyPr wrap="square" lIns="0" tIns="0" rIns="0" bIns="0" rtlCol="0" anchor="t"/>
          <a:lstStyle/>
          <a:p>
            <a:pPr algn="ctr" indent="0" marL="0">
              <a:buNone/>
            </a:pPr>
            <a:r>
              <a:rPr lang="en-US" sz="1900" b="1" dirty="0">
                <a:solidFill>
                  <a:schemeClr val="bg1"/>
                </a:solidFill>
                <a:latin typeface="Calibri" pitchFamily="34" charset="0"/>
                <a:ea typeface="Calibri" pitchFamily="34" charset="-122"/>
                <a:cs typeface="Calibri" pitchFamily="34" charset="-120"/>
              </a:rPr>
              <a:t>Request A</a:t>
            </a:r>
            <a:endParaRPr lang="en-US" sz="1900" dirty="0"/>
          </a:p>
        </p:txBody>
      </p:sp>
      <p:sp>
        <p:nvSpPr>
          <p:cNvPr id="5" name="Text 3"/>
          <p:cNvSpPr txBox="1"/>
          <p:nvPr/>
        </p:nvSpPr>
        <p:spPr>
          <a:xfrm>
            <a:off x="685800" y="2240280"/>
            <a:ext cx="1691640" cy="6400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arrives at worker #3</a:t>
            </a:r>
            <a:endParaRPr lang="en-US" sz="1400" dirty="0"/>
          </a:p>
        </p:txBody>
      </p:sp>
      <p:sp>
        <p:nvSpPr>
          <p:cNvPr id="6" name="Arrow 1"/>
          <p:cNvSpPr/>
          <p:nvPr/>
        </p:nvSpPr>
        <p:spPr>
          <a:xfrm>
            <a:off x="2551176" y="2286000"/>
            <a:ext cx="237744" cy="0"/>
          </a:xfrm>
          <a:prstGeom prst="line">
            <a:avLst/>
          </a:prstGeom>
          <a:noFill/>
          <a:ln w="25400">
            <a:solidFill>
              <a:srgbClr val="6B7A8C"/>
            </a:solidFill>
            <a:prstDash val="solid"/>
            <a:tailEnd type="triangle"/>
          </a:ln>
        </p:spPr>
      </p:sp>
      <p:sp>
        <p:nvSpPr>
          <p:cNvPr id="7" name="Step 2"/>
          <p:cNvSpPr/>
          <p:nvPr/>
        </p:nvSpPr>
        <p:spPr>
          <a:xfrm>
            <a:off x="2825496" y="1600200"/>
            <a:ext cx="1965960" cy="1371600"/>
          </a:xfrm>
          <a:prstGeom prst="roundRect">
            <a:avLst>
              <a:gd name="adj" fmla="val 8000"/>
            </a:avLst>
          </a:prstGeom>
          <a:solidFill>
            <a:schemeClr val="tx2"/>
          </a:solidFill>
          <a:ln/>
        </p:spPr>
      </p:sp>
      <p:sp>
        <p:nvSpPr>
          <p:cNvPr id="8" name="Text 6"/>
          <p:cNvSpPr txBox="1"/>
          <p:nvPr/>
        </p:nvSpPr>
        <p:spPr>
          <a:xfrm>
            <a:off x="2962656" y="1737360"/>
            <a:ext cx="1691640" cy="457200"/>
          </a:xfrm>
          <a:prstGeom prst="rect">
            <a:avLst/>
          </a:prstGeom>
          <a:noFill/>
          <a:ln/>
        </p:spPr>
        <p:txBody>
          <a:bodyPr wrap="square" lIns="0" tIns="0" rIns="0" bIns="0" rtlCol="0" anchor="t"/>
          <a:lstStyle/>
          <a:p>
            <a:pPr algn="ctr" indent="0" marL="0">
              <a:buNone/>
            </a:pPr>
            <a:r>
              <a:rPr lang="en-US" sz="1900" b="1" dirty="0">
                <a:solidFill>
                  <a:schemeClr val="bg1"/>
                </a:solidFill>
                <a:latin typeface="Calibri" pitchFamily="34" charset="0"/>
                <a:ea typeface="Calibri" pitchFamily="34" charset="-122"/>
                <a:cs typeface="Calibri" pitchFamily="34" charset="-120"/>
              </a:rPr>
              <a:t>Startup</a:t>
            </a:r>
            <a:endParaRPr lang="en-US" sz="1900" dirty="0"/>
          </a:p>
        </p:txBody>
      </p:sp>
      <p:sp>
        <p:nvSpPr>
          <p:cNvPr id="9" name="Text 7"/>
          <p:cNvSpPr txBox="1"/>
          <p:nvPr/>
        </p:nvSpPr>
        <p:spPr>
          <a:xfrm>
            <a:off x="2962656" y="2240280"/>
            <a:ext cx="1691640" cy="6400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PHP sets up request state</a:t>
            </a:r>
            <a:endParaRPr lang="en-US" sz="1400" dirty="0"/>
          </a:p>
        </p:txBody>
      </p:sp>
      <p:sp>
        <p:nvSpPr>
          <p:cNvPr id="10" name="Arrow 2"/>
          <p:cNvSpPr/>
          <p:nvPr/>
        </p:nvSpPr>
        <p:spPr>
          <a:xfrm>
            <a:off x="4828032" y="2286000"/>
            <a:ext cx="237744" cy="0"/>
          </a:xfrm>
          <a:prstGeom prst="line">
            <a:avLst/>
          </a:prstGeom>
          <a:noFill/>
          <a:ln w="25400">
            <a:solidFill>
              <a:srgbClr val="6B7A8C"/>
            </a:solidFill>
            <a:prstDash val="solid"/>
            <a:tailEnd type="triangle"/>
          </a:ln>
        </p:spPr>
      </p:sp>
      <p:sp>
        <p:nvSpPr>
          <p:cNvPr id="11" name="Step 3"/>
          <p:cNvSpPr/>
          <p:nvPr/>
        </p:nvSpPr>
        <p:spPr>
          <a:xfrm>
            <a:off x="5102352" y="1600200"/>
            <a:ext cx="1965960" cy="1371600"/>
          </a:xfrm>
          <a:prstGeom prst="roundRect">
            <a:avLst>
              <a:gd name="adj" fmla="val 8000"/>
            </a:avLst>
          </a:prstGeom>
          <a:solidFill>
            <a:schemeClr val="tx2"/>
          </a:solidFill>
          <a:ln/>
        </p:spPr>
      </p:sp>
      <p:sp>
        <p:nvSpPr>
          <p:cNvPr id="12" name="Text 10"/>
          <p:cNvSpPr txBox="1"/>
          <p:nvPr/>
        </p:nvSpPr>
        <p:spPr>
          <a:xfrm>
            <a:off x="5239512" y="1737360"/>
            <a:ext cx="1691640" cy="457200"/>
          </a:xfrm>
          <a:prstGeom prst="rect">
            <a:avLst/>
          </a:prstGeom>
          <a:noFill/>
          <a:ln/>
        </p:spPr>
        <p:txBody>
          <a:bodyPr wrap="square" lIns="0" tIns="0" rIns="0" bIns="0" rtlCol="0" anchor="t"/>
          <a:lstStyle/>
          <a:p>
            <a:pPr algn="ctr" indent="0" marL="0">
              <a:buNone/>
            </a:pPr>
            <a:r>
              <a:rPr lang="en-US" sz="1900" b="1" dirty="0">
                <a:solidFill>
                  <a:schemeClr val="bg1"/>
                </a:solidFill>
                <a:latin typeface="Calibri" pitchFamily="34" charset="0"/>
                <a:ea typeface="Calibri" pitchFamily="34" charset="-122"/>
                <a:cs typeface="Calibri" pitchFamily="34" charset="-120"/>
              </a:rPr>
              <a:t>Your code runs</a:t>
            </a:r>
            <a:endParaRPr lang="en-US" sz="1900" dirty="0"/>
          </a:p>
        </p:txBody>
      </p:sp>
      <p:sp>
        <p:nvSpPr>
          <p:cNvPr id="13" name="Text 11"/>
          <p:cNvSpPr txBox="1"/>
          <p:nvPr/>
        </p:nvSpPr>
        <p:spPr>
          <a:xfrm>
            <a:off x="5239512" y="2240280"/>
            <a:ext cx="1691640" cy="6400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index.php, WordPress…</a:t>
            </a:r>
            <a:endParaRPr lang="en-US" sz="1400" dirty="0"/>
          </a:p>
        </p:txBody>
      </p:sp>
      <p:sp>
        <p:nvSpPr>
          <p:cNvPr id="14" name="Arrow 3"/>
          <p:cNvSpPr/>
          <p:nvPr/>
        </p:nvSpPr>
        <p:spPr>
          <a:xfrm>
            <a:off x="7104888" y="2286000"/>
            <a:ext cx="237744" cy="0"/>
          </a:xfrm>
          <a:prstGeom prst="line">
            <a:avLst/>
          </a:prstGeom>
          <a:noFill/>
          <a:ln w="25400">
            <a:solidFill>
              <a:srgbClr val="6B7A8C"/>
            </a:solidFill>
            <a:prstDash val="solid"/>
            <a:tailEnd type="triangle"/>
          </a:ln>
        </p:spPr>
      </p:sp>
      <p:sp>
        <p:nvSpPr>
          <p:cNvPr id="15" name="Step 4"/>
          <p:cNvSpPr/>
          <p:nvPr/>
        </p:nvSpPr>
        <p:spPr>
          <a:xfrm>
            <a:off x="7379208" y="1600200"/>
            <a:ext cx="1965960" cy="1371600"/>
          </a:xfrm>
          <a:prstGeom prst="roundRect">
            <a:avLst>
              <a:gd name="adj" fmla="val 8000"/>
            </a:avLst>
          </a:prstGeom>
          <a:solidFill>
            <a:schemeClr val="accent3"/>
          </a:solidFill>
          <a:ln/>
        </p:spPr>
      </p:sp>
      <p:sp>
        <p:nvSpPr>
          <p:cNvPr id="16" name="Text 14"/>
          <p:cNvSpPr txBox="1"/>
          <p:nvPr/>
        </p:nvSpPr>
        <p:spPr>
          <a:xfrm>
            <a:off x="7516368" y="1737360"/>
            <a:ext cx="1691640" cy="457200"/>
          </a:xfrm>
          <a:prstGeom prst="rect">
            <a:avLst/>
          </a:prstGeom>
          <a:noFill/>
          <a:ln/>
        </p:spPr>
        <p:txBody>
          <a:bodyPr wrap="square" lIns="0" tIns="0" rIns="0" bIns="0" rtlCol="0" anchor="t"/>
          <a:lstStyle/>
          <a:p>
            <a:pPr algn="ctr" indent="0" marL="0">
              <a:buNone/>
            </a:pPr>
            <a:r>
              <a:rPr lang="en-US" sz="1900" b="1" dirty="0">
                <a:solidFill>
                  <a:schemeClr val="bg1"/>
                </a:solidFill>
                <a:latin typeface="Calibri" pitchFamily="34" charset="0"/>
                <a:ea typeface="Calibri" pitchFamily="34" charset="-122"/>
                <a:cs typeface="Calibri" pitchFamily="34" charset="-120"/>
              </a:rPr>
              <a:t>Cleanup</a:t>
            </a:r>
            <a:endParaRPr lang="en-US" sz="1900" dirty="0"/>
          </a:p>
        </p:txBody>
      </p:sp>
      <p:sp>
        <p:nvSpPr>
          <p:cNvPr id="17" name="Text 15"/>
          <p:cNvSpPr txBox="1"/>
          <p:nvPr/>
        </p:nvSpPr>
        <p:spPr>
          <a:xfrm>
            <a:off x="7516368" y="2240280"/>
            <a:ext cx="1691640" cy="6400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memory freed, state reset</a:t>
            </a:r>
            <a:endParaRPr lang="en-US" sz="1400" dirty="0"/>
          </a:p>
        </p:txBody>
      </p:sp>
      <p:sp>
        <p:nvSpPr>
          <p:cNvPr id="18" name="Arrow 4"/>
          <p:cNvSpPr/>
          <p:nvPr/>
        </p:nvSpPr>
        <p:spPr>
          <a:xfrm>
            <a:off x="9381744" y="2286000"/>
            <a:ext cx="237744" cy="0"/>
          </a:xfrm>
          <a:prstGeom prst="line">
            <a:avLst/>
          </a:prstGeom>
          <a:noFill/>
          <a:ln w="25400">
            <a:solidFill>
              <a:srgbClr val="6B7A8C"/>
            </a:solidFill>
            <a:prstDash val="solid"/>
            <a:tailEnd type="triangle"/>
          </a:ln>
        </p:spPr>
      </p:sp>
      <p:sp>
        <p:nvSpPr>
          <p:cNvPr id="19" name="Step 5"/>
          <p:cNvSpPr/>
          <p:nvPr/>
        </p:nvSpPr>
        <p:spPr>
          <a:xfrm>
            <a:off x="9656064" y="1600200"/>
            <a:ext cx="1965960" cy="1371600"/>
          </a:xfrm>
          <a:prstGeom prst="roundRect">
            <a:avLst>
              <a:gd name="adj" fmla="val 8000"/>
            </a:avLst>
          </a:prstGeom>
          <a:solidFill>
            <a:schemeClr val="tx2"/>
          </a:solidFill>
          <a:ln/>
        </p:spPr>
      </p:sp>
      <p:sp>
        <p:nvSpPr>
          <p:cNvPr id="20" name="Text 18"/>
          <p:cNvSpPr txBox="1"/>
          <p:nvPr/>
        </p:nvSpPr>
        <p:spPr>
          <a:xfrm>
            <a:off x="9793224" y="1737360"/>
            <a:ext cx="1691640" cy="457200"/>
          </a:xfrm>
          <a:prstGeom prst="rect">
            <a:avLst/>
          </a:prstGeom>
          <a:noFill/>
          <a:ln/>
        </p:spPr>
        <p:txBody>
          <a:bodyPr wrap="square" lIns="0" tIns="0" rIns="0" bIns="0" rtlCol="0" anchor="t"/>
          <a:lstStyle/>
          <a:p>
            <a:pPr algn="ctr" indent="0" marL="0">
              <a:buNone/>
            </a:pPr>
            <a:r>
              <a:rPr lang="en-US" sz="1900" b="1" dirty="0">
                <a:solidFill>
                  <a:schemeClr val="bg1"/>
                </a:solidFill>
                <a:latin typeface="Calibri" pitchFamily="34" charset="0"/>
                <a:ea typeface="Calibri" pitchFamily="34" charset="-122"/>
                <a:cs typeface="Calibri" pitchFamily="34" charset="-120"/>
              </a:rPr>
              <a:t>Request B</a:t>
            </a:r>
            <a:endParaRPr lang="en-US" sz="1900" dirty="0"/>
          </a:p>
        </p:txBody>
      </p:sp>
      <p:sp>
        <p:nvSpPr>
          <p:cNvPr id="21" name="Text 19"/>
          <p:cNvSpPr txBox="1"/>
          <p:nvPr/>
        </p:nvSpPr>
        <p:spPr>
          <a:xfrm>
            <a:off x="9793224" y="2240280"/>
            <a:ext cx="1691640" cy="6400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same worker #3, next user</a:t>
            </a:r>
            <a:endParaRPr lang="en-US" sz="1400" dirty="0"/>
          </a:p>
        </p:txBody>
      </p:sp>
      <p:sp>
        <p:nvSpPr>
          <p:cNvPr id="22" name="Explanation card"/>
          <p:cNvSpPr/>
          <p:nvPr/>
        </p:nvSpPr>
        <p:spPr>
          <a:xfrm>
            <a:off x="548640" y="3429000"/>
            <a:ext cx="11064240" cy="2514600"/>
          </a:xfrm>
          <a:prstGeom prst="roundRect">
            <a:avLst>
              <a:gd name="adj" fmla="val 4364"/>
            </a:avLst>
          </a:prstGeom>
          <a:solidFill>
            <a:schemeClr val="bg2"/>
          </a:solidFill>
          <a:ln/>
        </p:spPr>
      </p:sp>
      <p:sp>
        <p:nvSpPr>
          <p:cNvPr id="23" name="Text 21"/>
          <p:cNvSpPr txBox="1"/>
          <p:nvPr/>
        </p:nvSpPr>
        <p:spPr>
          <a:xfrm>
            <a:off x="868680" y="3611880"/>
            <a:ext cx="10424160" cy="219456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Why reuse? </a:t>
            </a:r>
            <a:pPr indent="0" marL="0">
              <a:buNone/>
            </a:pPr>
            <a:r>
              <a:rPr lang="en-US" sz="1800" dirty="0">
                <a:solidFill>
                  <a:schemeClr val="tx1"/>
                </a:solidFill>
                <a:latin typeface="Calibri" pitchFamily="34" charset="0"/>
                <a:ea typeface="Calibri" pitchFamily="34" charset="-122"/>
                <a:cs typeface="Calibri" pitchFamily="34" charset="-120"/>
              </a:rPr>
              <a:t>Starting a new process for each request is slow, so PHP-FPM and Apache keep a pool of workers and reuse them for thousands of requests.</a:t>
            </a:r>
            <a:endParaRPr lang="en-US" sz="1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800" dirty="0"/>
          </a:p>
          <a:p>
            <a:pPr indent="0" marL="0">
              <a:buNone/>
            </a:pPr>
            <a:r>
              <a:rPr lang="en-US" sz="1800" b="1" dirty="0">
                <a:solidFill>
                  <a:schemeClr val="tx2"/>
                </a:solidFill>
                <a:latin typeface="Calibri" pitchFamily="34" charset="0"/>
                <a:ea typeface="Calibri" pitchFamily="34" charset="-122"/>
                <a:cs typeface="Calibri" pitchFamily="34" charset="-120"/>
              </a:rPr>
              <a:t>The assumption: </a:t>
            </a:r>
            <a:pPr indent="0" marL="0">
              <a:buNone/>
            </a:pPr>
            <a:r>
              <a:rPr lang="en-US" sz="1800" dirty="0">
                <a:solidFill>
                  <a:schemeClr val="tx1"/>
                </a:solidFill>
                <a:latin typeface="Calibri" pitchFamily="34" charset="0"/>
                <a:ea typeface="Calibri" pitchFamily="34" charset="-122"/>
                <a:cs typeface="Calibri" pitchFamily="34" charset="-120"/>
              </a:rPr>
              <a:t>step 4 (cleanup) always finishes cleanly, so request B never sees anything from request A.</a:t>
            </a:r>
            <a:endParaRPr lang="en-US" sz="18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800" dirty="0"/>
          </a:p>
          <a:p>
            <a:pPr indent="0" marL="0">
              <a:buNone/>
            </a:pPr>
            <a:r>
              <a:rPr lang="en-US" sz="1800" b="1" dirty="0">
                <a:solidFill>
                  <a:schemeClr val="accent3"/>
                </a:solidFill>
                <a:latin typeface="Calibri" pitchFamily="34" charset="0"/>
                <a:ea typeface="Calibri" pitchFamily="34" charset="-122"/>
                <a:cs typeface="Calibri" pitchFamily="34" charset="-120"/>
              </a:rPr>
              <a:t>PHP2Shell breaks exactly this assumption. </a:t>
            </a:r>
            <a:pPr indent="0" marL="0">
              <a:buNone/>
            </a:pPr>
            <a:r>
              <a:rPr lang="en-US" sz="1800" dirty="0">
                <a:solidFill>
                  <a:schemeClr val="tx1"/>
                </a:solidFill>
                <a:latin typeface="Calibri" pitchFamily="34" charset="0"/>
                <a:ea typeface="Calibri" pitchFamily="34" charset="-122"/>
                <a:cs typeface="Calibri" pitchFamily="34" charset="-120"/>
              </a:rPr>
              <a:t>Both bugs live in the red box.</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Bug 1 · CVE-2026-109618 · out of memory</a:t>
            </a:r>
            <a:endParaRPr lang="en-US" sz="3600" dirty="0"/>
          </a:p>
        </p:txBody>
      </p:sp>
      <p:sp>
        <p:nvSpPr>
          <p:cNvPr id="3" name="Attacker sends circle"/>
          <p:cNvSpPr/>
          <p:nvPr/>
        </p:nvSpPr>
        <p:spPr>
          <a:xfrm>
            <a:off x="548640" y="1463040"/>
            <a:ext cx="777240" cy="777240"/>
          </a:xfrm>
          <a:prstGeom prst="ellipse">
            <a:avLst/>
          </a:prstGeom>
          <a:solidFill>
            <a:schemeClr val="tx2"/>
          </a:solidFill>
          <a:ln/>
        </p:spPr>
      </p:sp>
      <p:pic>
        <p:nvPicPr>
          <p:cNvPr id="4" name="Attacker sends icon" descr="Attacker sends">    </p:cNvPr>
          <p:cNvPicPr>
            <a:picLocks noChangeAspect="1"/>
          </p:cNvPicPr>
          <p:nvPr/>
        </p:nvPicPr>
        <p:blipFill>
          <a:blip r:embed="rId1"/>
          <a:stretch>
            <a:fillRect/>
          </a:stretch>
        </p:blipFill>
        <p:spPr>
          <a:xfrm>
            <a:off x="742950" y="1657350"/>
            <a:ext cx="388620" cy="388620"/>
          </a:xfrm>
          <a:prstGeom prst="rect">
            <a:avLst/>
          </a:prstGeom>
        </p:spPr>
      </p:pic>
      <p:sp>
        <p:nvSpPr>
          <p:cNvPr id="5" name="Text 2"/>
          <p:cNvSpPr txBox="1"/>
          <p:nvPr/>
        </p:nvSpPr>
        <p:spPr>
          <a:xfrm>
            <a:off x="1554480" y="1417320"/>
            <a:ext cx="5120640" cy="384048"/>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Attacker sends</a:t>
            </a:r>
            <a:endParaRPr lang="en-US" sz="1900" dirty="0"/>
          </a:p>
        </p:txBody>
      </p:sp>
      <p:sp>
        <p:nvSpPr>
          <p:cNvPr id="6" name="Text 3"/>
          <p:cNvSpPr txBox="1"/>
          <p:nvPr/>
        </p:nvSpPr>
        <p:spPr>
          <a:xfrm>
            <a:off x="1554480" y="1801368"/>
            <a:ext cx="512064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huge multipart/form-data POST, without Content-Length, so post_max_size is not enforced</a:t>
            </a:r>
            <a:endParaRPr lang="en-US" sz="1400" dirty="0"/>
          </a:p>
        </p:txBody>
      </p:sp>
      <p:sp>
        <p:nvSpPr>
          <p:cNvPr id="7" name="PHP runs out of memory circle"/>
          <p:cNvSpPr/>
          <p:nvPr/>
        </p:nvSpPr>
        <p:spPr>
          <a:xfrm>
            <a:off x="548640" y="2487168"/>
            <a:ext cx="777240" cy="777240"/>
          </a:xfrm>
          <a:prstGeom prst="ellipse">
            <a:avLst/>
          </a:prstGeom>
          <a:solidFill>
            <a:schemeClr val="tx2"/>
          </a:solidFill>
          <a:ln/>
        </p:spPr>
      </p:sp>
      <p:pic>
        <p:nvPicPr>
          <p:cNvPr id="8" name="PHP runs out of memory icon" descr="PHP runs out of memory">    </p:cNvPr>
          <p:cNvPicPr>
            <a:picLocks noChangeAspect="1"/>
          </p:cNvPicPr>
          <p:nvPr/>
        </p:nvPicPr>
        <p:blipFill>
          <a:blip r:embed="rId2"/>
          <a:stretch>
            <a:fillRect/>
          </a:stretch>
        </p:blipFill>
        <p:spPr>
          <a:xfrm>
            <a:off x="742950" y="2681478"/>
            <a:ext cx="388620" cy="388620"/>
          </a:xfrm>
          <a:prstGeom prst="rect">
            <a:avLst/>
          </a:prstGeom>
        </p:spPr>
      </p:pic>
      <p:sp>
        <p:nvSpPr>
          <p:cNvPr id="9" name="Text 5"/>
          <p:cNvSpPr txBox="1"/>
          <p:nvPr/>
        </p:nvSpPr>
        <p:spPr>
          <a:xfrm>
            <a:off x="1554480" y="2441448"/>
            <a:ext cx="5120640" cy="384048"/>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PHP runs out of memory</a:t>
            </a:r>
            <a:endParaRPr lang="en-US" sz="1900" dirty="0"/>
          </a:p>
        </p:txBody>
      </p:sp>
      <p:sp>
        <p:nvSpPr>
          <p:cNvPr id="10" name="Text 6"/>
          <p:cNvSpPr txBox="1"/>
          <p:nvPr/>
        </p:nvSpPr>
        <p:spPr>
          <a:xfrm>
            <a:off x="1554480" y="2825496"/>
            <a:ext cx="512064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while the request data is only half initialized, and abandons the request</a:t>
            </a:r>
            <a:endParaRPr lang="en-US" sz="1400" dirty="0"/>
          </a:p>
        </p:txBody>
      </p:sp>
      <p:sp>
        <p:nvSpPr>
          <p:cNvPr id="11" name="Cleanup runs anyway circle"/>
          <p:cNvSpPr/>
          <p:nvPr/>
        </p:nvSpPr>
        <p:spPr>
          <a:xfrm>
            <a:off x="548640" y="3511296"/>
            <a:ext cx="777240" cy="777240"/>
          </a:xfrm>
          <a:prstGeom prst="ellipse">
            <a:avLst/>
          </a:prstGeom>
          <a:solidFill>
            <a:schemeClr val="tx2"/>
          </a:solidFill>
          <a:ln/>
        </p:spPr>
      </p:sp>
      <p:pic>
        <p:nvPicPr>
          <p:cNvPr id="12" name="Cleanup runs anyway icon" descr="Cleanup runs anyway">    </p:cNvPr>
          <p:cNvPicPr>
            <a:picLocks noChangeAspect="1"/>
          </p:cNvPicPr>
          <p:nvPr/>
        </p:nvPicPr>
        <p:blipFill>
          <a:blip r:embed="rId3"/>
          <a:stretch>
            <a:fillRect/>
          </a:stretch>
        </p:blipFill>
        <p:spPr>
          <a:xfrm>
            <a:off x="742950" y="3705606"/>
            <a:ext cx="388620" cy="388620"/>
          </a:xfrm>
          <a:prstGeom prst="rect">
            <a:avLst/>
          </a:prstGeom>
        </p:spPr>
      </p:pic>
      <p:sp>
        <p:nvSpPr>
          <p:cNvPr id="13" name="Text 8"/>
          <p:cNvSpPr txBox="1"/>
          <p:nvPr/>
        </p:nvSpPr>
        <p:spPr>
          <a:xfrm>
            <a:off x="1554480" y="3465576"/>
            <a:ext cx="5120640" cy="384048"/>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Cleanup runs anyway</a:t>
            </a:r>
            <a:endParaRPr lang="en-US" sz="1900" dirty="0"/>
          </a:p>
        </p:txBody>
      </p:sp>
      <p:sp>
        <p:nvSpPr>
          <p:cNvPr id="14" name="Text 9"/>
          <p:cNvSpPr txBox="1"/>
          <p:nvPr/>
        </p:nvSpPr>
        <p:spPr>
          <a:xfrm>
            <a:off x="1554480" y="3849624"/>
            <a:ext cx="512064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and treats the half-built data as valid: it frees and uses garbage pointers</a:t>
            </a:r>
            <a:endParaRPr lang="en-US" sz="1400" dirty="0"/>
          </a:p>
        </p:txBody>
      </p:sp>
      <p:sp>
        <p:nvSpPr>
          <p:cNvPr id="15" name="Memory corruption circle"/>
          <p:cNvSpPr/>
          <p:nvPr/>
        </p:nvSpPr>
        <p:spPr>
          <a:xfrm>
            <a:off x="548640" y="4535424"/>
            <a:ext cx="777240" cy="777240"/>
          </a:xfrm>
          <a:prstGeom prst="ellipse">
            <a:avLst/>
          </a:prstGeom>
          <a:solidFill>
            <a:schemeClr val="accent3"/>
          </a:solidFill>
          <a:ln/>
        </p:spPr>
      </p:sp>
      <p:pic>
        <p:nvPicPr>
          <p:cNvPr id="16" name="Memory corruption icon" descr="Memory corruption">    </p:cNvPr>
          <p:cNvPicPr>
            <a:picLocks noChangeAspect="1"/>
          </p:cNvPicPr>
          <p:nvPr/>
        </p:nvPicPr>
        <p:blipFill>
          <a:blip r:embed="rId4"/>
          <a:stretch>
            <a:fillRect/>
          </a:stretch>
        </p:blipFill>
        <p:spPr>
          <a:xfrm>
            <a:off x="742950" y="4729734"/>
            <a:ext cx="388620" cy="388620"/>
          </a:xfrm>
          <a:prstGeom prst="rect">
            <a:avLst/>
          </a:prstGeom>
        </p:spPr>
      </p:pic>
      <p:sp>
        <p:nvSpPr>
          <p:cNvPr id="17" name="Text 11"/>
          <p:cNvSpPr txBox="1"/>
          <p:nvPr/>
        </p:nvSpPr>
        <p:spPr>
          <a:xfrm>
            <a:off x="1554480" y="4489704"/>
            <a:ext cx="5120640" cy="384048"/>
          </a:xfrm>
          <a:prstGeom prst="rect">
            <a:avLst/>
          </a:prstGeom>
          <a:noFill/>
          <a:ln/>
        </p:spPr>
        <p:txBody>
          <a:bodyPr wrap="square" lIns="0" tIns="0" rIns="0" bIns="0" rtlCol="0" anchor="t"/>
          <a:lstStyle/>
          <a:p>
            <a:pPr indent="0" marL="0">
              <a:buNone/>
            </a:pPr>
            <a:r>
              <a:rPr lang="en-US" sz="1900" b="1" dirty="0">
                <a:solidFill>
                  <a:schemeClr val="tx2"/>
                </a:solidFill>
                <a:latin typeface="Calibri" pitchFamily="34" charset="0"/>
                <a:ea typeface="Calibri" pitchFamily="34" charset="-122"/>
                <a:cs typeface="Calibri" pitchFamily="34" charset="-120"/>
              </a:rPr>
              <a:t>Memory corruption</a:t>
            </a:r>
            <a:endParaRPr lang="en-US" sz="1900" dirty="0"/>
          </a:p>
        </p:txBody>
      </p:sp>
      <p:sp>
        <p:nvSpPr>
          <p:cNvPr id="18" name="Text 12"/>
          <p:cNvSpPr txBox="1"/>
          <p:nvPr/>
        </p:nvSpPr>
        <p:spPr>
          <a:xfrm>
            <a:off x="1554480" y="4873752"/>
            <a:ext cx="512064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carefully shaped heap turns this into code execution</a:t>
            </a:r>
            <a:endParaRPr lang="en-US" sz="1400" dirty="0"/>
          </a:p>
        </p:txBody>
      </p:sp>
      <p:sp>
        <p:nvSpPr>
          <p:cNvPr id="19" name="Request example card"/>
          <p:cNvSpPr/>
          <p:nvPr/>
        </p:nvSpPr>
        <p:spPr>
          <a:xfrm>
            <a:off x="7040880" y="1417320"/>
            <a:ext cx="4572000" cy="4023360"/>
          </a:xfrm>
          <a:prstGeom prst="roundRect">
            <a:avLst>
              <a:gd name="adj" fmla="val 2727"/>
            </a:avLst>
          </a:prstGeom>
          <a:solidFill>
            <a:schemeClr val="tx2"/>
          </a:solidFill>
          <a:ln/>
        </p:spPr>
      </p:sp>
      <p:sp>
        <p:nvSpPr>
          <p:cNvPr id="20" name="Text 14"/>
          <p:cNvSpPr txBox="1"/>
          <p:nvPr/>
        </p:nvSpPr>
        <p:spPr>
          <a:xfrm>
            <a:off x="7315200" y="1600200"/>
            <a:ext cx="4023360" cy="41148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What a trigger looks like</a:t>
            </a:r>
            <a:endParaRPr lang="en-US" sz="1800" dirty="0"/>
          </a:p>
        </p:txBody>
      </p:sp>
      <p:sp>
        <p:nvSpPr>
          <p:cNvPr id="21" name="Text 15"/>
          <p:cNvSpPr txBox="1"/>
          <p:nvPr/>
        </p:nvSpPr>
        <p:spPr>
          <a:xfrm>
            <a:off x="7315200" y="2103120"/>
            <a:ext cx="4069080" cy="3200400"/>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POST /index.php HTTP/1.1</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Transfer-Encoding: chunked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Content-Type: multipart/form-data;</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boundary=X</a:t>
            </a:r>
            <a:endParaRPr lang="en-US" sz="1300" dirty="0"/>
          </a:p>
          <a:p>
            <a:pPr indent="0" marL="0">
              <a:buNone/>
            </a:pP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--X</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Content-Disposition: form-data;</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name="f"; filename="AAAA…AAAA"</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(thousands of parts and headers)</a:t>
            </a:r>
            <a:endParaRPr lang="en-US" sz="1300" dirty="0"/>
          </a:p>
        </p:txBody>
      </p:sp>
      <p:sp>
        <p:nvSpPr>
          <p:cNvPr id="22" name="Text 16"/>
          <p:cNvSpPr txBox="1"/>
          <p:nvPr/>
        </p:nvSpPr>
        <p:spPr>
          <a:xfrm>
            <a:off x="548640" y="5577840"/>
            <a:ext cx="1106424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Bug class: </a:t>
            </a:r>
            <a:pPr indent="0" marL="0">
              <a:buNone/>
            </a:pPr>
            <a:r>
              <a:rPr lang="en-US" sz="1500" dirty="0">
                <a:solidFill>
                  <a:schemeClr val="tx1"/>
                </a:solidFill>
                <a:latin typeface="Calibri" pitchFamily="34" charset="0"/>
                <a:ea typeface="Calibri" pitchFamily="34" charset="-122"/>
                <a:cs typeface="Calibri" pitchFamily="34" charset="-120"/>
              </a:rPr>
              <a:t>use-after-free / uninitialized pointer (CWE-416, CWE-824) in error handling (CWE-755). One request per attempt on mod_php.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Bug 2 · CVE-2026-109619 · stale state</a:t>
            </a:r>
            <a:endParaRPr lang="en-US" sz="3600" dirty="0"/>
          </a:p>
        </p:txBody>
      </p:sp>
      <p:sp>
        <p:nvSpPr>
          <p:cNvPr id="3" name="Request 1: the producer header"/>
          <p:cNvSpPr/>
          <p:nvPr/>
        </p:nvSpPr>
        <p:spPr>
          <a:xfrm>
            <a:off x="548640" y="1417320"/>
            <a:ext cx="5303520" cy="640080"/>
          </a:xfrm>
          <a:prstGeom prst="roundRect">
            <a:avLst>
              <a:gd name="adj" fmla="val 17143"/>
            </a:avLst>
          </a:prstGeom>
          <a:solidFill>
            <a:schemeClr val="accent1"/>
          </a:solidFill>
          <a:ln/>
        </p:spPr>
      </p:sp>
      <p:sp>
        <p:nvSpPr>
          <p:cNvPr id="4" name="Text 2"/>
          <p:cNvSpPr txBox="1"/>
          <p:nvPr/>
        </p:nvSpPr>
        <p:spPr>
          <a:xfrm>
            <a:off x="548640" y="1417320"/>
            <a:ext cx="530352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Request 1: the producer</a:t>
            </a:r>
            <a:endParaRPr lang="en-US" sz="2000" dirty="0"/>
          </a:p>
        </p:txBody>
      </p:sp>
      <p:sp>
        <p:nvSpPr>
          <p:cNvPr id="5" name="Request 1: the producer card"/>
          <p:cNvSpPr/>
          <p:nvPr/>
        </p:nvSpPr>
        <p:spPr>
          <a:xfrm>
            <a:off x="548640" y="2194560"/>
            <a:ext cx="5303520" cy="2331720"/>
          </a:xfrm>
          <a:prstGeom prst="roundRect">
            <a:avLst>
              <a:gd name="adj" fmla="val 4706"/>
            </a:avLst>
          </a:prstGeom>
          <a:solidFill>
            <a:schemeClr val="bg2"/>
          </a:solidFill>
          <a:ln/>
        </p:spPr>
      </p:sp>
      <p:sp>
        <p:nvSpPr>
          <p:cNvPr id="6" name="Text 4"/>
          <p:cNvSpPr txBox="1"/>
          <p:nvPr/>
        </p:nvSpPr>
        <p:spPr>
          <a:xfrm>
            <a:off x="822960" y="2377440"/>
            <a:ext cx="480060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Triggers a fatal error: timeout, out of memory, failed require…</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PHP stops before resetting some global state (errors, session, backtrace)</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That state now points to memory that has been freed</a:t>
            </a:r>
            <a:endParaRPr lang="en-US" sz="1600" dirty="0"/>
          </a:p>
        </p:txBody>
      </p:sp>
      <p:sp>
        <p:nvSpPr>
          <p:cNvPr id="7" name="Request 2: the consumer header"/>
          <p:cNvSpPr/>
          <p:nvPr/>
        </p:nvSpPr>
        <p:spPr>
          <a:xfrm>
            <a:off x="6309360" y="1417320"/>
            <a:ext cx="5303520" cy="640080"/>
          </a:xfrm>
          <a:prstGeom prst="roundRect">
            <a:avLst>
              <a:gd name="adj" fmla="val 17143"/>
            </a:avLst>
          </a:prstGeom>
          <a:solidFill>
            <a:schemeClr val="accent3"/>
          </a:solidFill>
          <a:ln/>
        </p:spPr>
      </p:sp>
      <p:sp>
        <p:nvSpPr>
          <p:cNvPr id="8" name="Text 6"/>
          <p:cNvSpPr txBox="1"/>
          <p:nvPr/>
        </p:nvSpPr>
        <p:spPr>
          <a:xfrm>
            <a:off x="6309360" y="1417320"/>
            <a:ext cx="5303520" cy="64008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Request 2: the consumer</a:t>
            </a:r>
            <a:endParaRPr lang="en-US" sz="2000" dirty="0"/>
          </a:p>
        </p:txBody>
      </p:sp>
      <p:sp>
        <p:nvSpPr>
          <p:cNvPr id="9" name="Request 2: the consumer card"/>
          <p:cNvSpPr/>
          <p:nvPr/>
        </p:nvSpPr>
        <p:spPr>
          <a:xfrm>
            <a:off x="6309360" y="2194560"/>
            <a:ext cx="5303520" cy="2331720"/>
          </a:xfrm>
          <a:prstGeom prst="roundRect">
            <a:avLst>
              <a:gd name="adj" fmla="val 4706"/>
            </a:avLst>
          </a:prstGeom>
          <a:solidFill>
            <a:schemeClr val="bg2"/>
          </a:solidFill>
          <a:ln/>
        </p:spPr>
      </p:sp>
      <p:sp>
        <p:nvSpPr>
          <p:cNvPr id="10" name="Text 8"/>
          <p:cNvSpPr txBox="1"/>
          <p:nvPr/>
        </p:nvSpPr>
        <p:spPr>
          <a:xfrm>
            <a:off x="6583680" y="2377440"/>
            <a:ext cx="480060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Arrives at the same worker</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Something runs before normal init: session upload progress, an INI warning from .htaccess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It reads the stale pointer: use-after-free → RCE or memory leak</a:t>
            </a:r>
            <a:endParaRPr lang="en-US" sz="1600" dirty="0"/>
          </a:p>
        </p:txBody>
      </p:sp>
      <p:sp>
        <p:nvSpPr>
          <p:cNvPr id="11" name="Producer to consumer arrow"/>
          <p:cNvSpPr/>
          <p:nvPr/>
        </p:nvSpPr>
        <p:spPr>
          <a:xfrm>
            <a:off x="5897880" y="1737360"/>
            <a:ext cx="365760" cy="0"/>
          </a:xfrm>
          <a:prstGeom prst="line">
            <a:avLst/>
          </a:prstGeom>
          <a:noFill/>
          <a:ln w="25400">
            <a:solidFill>
              <a:srgbClr val="6B7A8C"/>
            </a:solidFill>
            <a:prstDash val="solid"/>
            <a:tailEnd type="triangle"/>
          </a:ln>
        </p:spPr>
      </p:sp>
      <p:sp>
        <p:nvSpPr>
          <p:cNvPr id="12" name="Default settings card"/>
          <p:cNvSpPr/>
          <p:nvPr/>
        </p:nvSpPr>
        <p:spPr>
          <a:xfrm>
            <a:off x="548640" y="4754880"/>
            <a:ext cx="11064240" cy="1280160"/>
          </a:xfrm>
          <a:prstGeom prst="roundRect">
            <a:avLst>
              <a:gd name="adj" fmla="val 8571"/>
            </a:avLst>
          </a:prstGeom>
          <a:solidFill>
            <a:schemeClr val="bg2"/>
          </a:solidFill>
          <a:ln/>
        </p:spPr>
      </p:sp>
      <p:sp>
        <p:nvSpPr>
          <p:cNvPr id="13" name="Settings circle"/>
          <p:cNvSpPr/>
          <p:nvPr/>
        </p:nvSpPr>
        <p:spPr>
          <a:xfrm>
            <a:off x="822960" y="4956048"/>
            <a:ext cx="868680" cy="868680"/>
          </a:xfrm>
          <a:prstGeom prst="ellipse">
            <a:avLst/>
          </a:prstGeom>
          <a:solidFill>
            <a:schemeClr val="tx2"/>
          </a:solidFill>
          <a:ln/>
        </p:spPr>
      </p:sp>
      <p:pic>
        <p:nvPicPr>
          <p:cNvPr id="14" name="Settings icon" descr="Settings">    </p:cNvPr>
          <p:cNvPicPr>
            <a:picLocks noChangeAspect="1"/>
          </p:cNvPicPr>
          <p:nvPr/>
        </p:nvPicPr>
        <p:blipFill>
          <a:blip r:embed="rId1"/>
          <a:stretch>
            <a:fillRect/>
          </a:stretch>
        </p:blipFill>
        <p:spPr>
          <a:xfrm>
            <a:off x="1040130" y="5173218"/>
            <a:ext cx="434340" cy="434340"/>
          </a:xfrm>
          <a:prstGeom prst="rect">
            <a:avLst/>
          </a:prstGeom>
        </p:spPr>
      </p:pic>
      <p:sp>
        <p:nvSpPr>
          <p:cNvPr id="15" name="Text 12"/>
          <p:cNvSpPr txBox="1"/>
          <p:nvPr/>
        </p:nvSpPr>
        <p:spPr>
          <a:xfrm>
            <a:off x="1965960" y="4754880"/>
            <a:ext cx="9418320" cy="1280160"/>
          </a:xfrm>
          <a:prstGeom prst="rect">
            <a:avLst/>
          </a:prstGeom>
          <a:noFill/>
          <a:ln/>
        </p:spPr>
        <p:txBody>
          <a:bodyPr wrap="square" lIns="0" tIns="0" rIns="0" bIns="0" rtlCol="0" anchor="ctr"/>
          <a:lstStyle/>
          <a:p>
            <a:pPr indent="0" marL="0">
              <a:buNone/>
            </a:pPr>
            <a:r>
              <a:rPr lang="en-US" sz="1700" b="1" dirty="0">
                <a:solidFill>
                  <a:schemeClr val="accent3"/>
                </a:solidFill>
                <a:latin typeface="Calibri" pitchFamily="34" charset="0"/>
                <a:ea typeface="Calibri" pitchFamily="34" charset="-122"/>
                <a:cs typeface="Calibri" pitchFamily="34" charset="-120"/>
              </a:rPr>
              <a:t>Enabled by default: </a:t>
            </a:r>
            <a:pPr indent="0" marL="0">
              <a:buNone/>
            </a:pPr>
            <a:r>
              <a:rPr lang="en-US" sz="1700" dirty="0">
                <a:solidFill>
                  <a:schemeClr val="tx1"/>
                </a:solidFill>
                <a:latin typeface="Calibri" pitchFamily="34" charset="0"/>
                <a:ea typeface="Calibri" pitchFamily="34" charset="-122"/>
                <a:cs typeface="Calibri" pitchFamily="34" charset="-120"/>
              </a:rPr>
              <a:t>session.upload_progress (since PHP 5.4, 2012) and fatal_error_backtraces (PHP 8.5). Confirmed RCE on Apache mod_php and on PHP-FPM.</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What an attacker gets</a:t>
            </a:r>
            <a:endParaRPr lang="en-US" sz="3600" dirty="0"/>
          </a:p>
        </p:txBody>
      </p:sp>
      <p:sp>
        <p:nvSpPr>
          <p:cNvPr id="3" name="Code execution card"/>
          <p:cNvSpPr/>
          <p:nvPr/>
        </p:nvSpPr>
        <p:spPr>
          <a:xfrm>
            <a:off x="548640" y="1463040"/>
            <a:ext cx="3474720" cy="3383280"/>
          </a:xfrm>
          <a:prstGeom prst="roundRect">
            <a:avLst>
              <a:gd name="adj" fmla="val 3243"/>
            </a:avLst>
          </a:prstGeom>
          <a:solidFill>
            <a:schemeClr val="bg2"/>
          </a:solidFill>
          <a:ln/>
        </p:spPr>
      </p:sp>
      <p:sp>
        <p:nvSpPr>
          <p:cNvPr id="4" name="Code execution circle"/>
          <p:cNvSpPr/>
          <p:nvPr/>
        </p:nvSpPr>
        <p:spPr>
          <a:xfrm>
            <a:off x="868680" y="1737360"/>
            <a:ext cx="868680" cy="868680"/>
          </a:xfrm>
          <a:prstGeom prst="ellipse">
            <a:avLst/>
          </a:prstGeom>
          <a:solidFill>
            <a:schemeClr val="accent3"/>
          </a:solidFill>
          <a:ln/>
        </p:spPr>
      </p:sp>
      <p:pic>
        <p:nvPicPr>
          <p:cNvPr id="5" name="Code execution icon" descr="Code execution">    </p:cNvPr>
          <p:cNvPicPr>
            <a:picLocks noChangeAspect="1"/>
          </p:cNvPicPr>
          <p:nvPr/>
        </p:nvPicPr>
        <p:blipFill>
          <a:blip r:embed="rId1"/>
          <a:stretch>
            <a:fillRect/>
          </a:stretch>
        </p:blipFill>
        <p:spPr>
          <a:xfrm>
            <a:off x="1085850" y="1954530"/>
            <a:ext cx="434340" cy="434340"/>
          </a:xfrm>
          <a:prstGeom prst="rect">
            <a:avLst/>
          </a:prstGeom>
        </p:spPr>
      </p:pic>
      <p:sp>
        <p:nvSpPr>
          <p:cNvPr id="6" name="Text 3"/>
          <p:cNvSpPr txBox="1"/>
          <p:nvPr/>
        </p:nvSpPr>
        <p:spPr>
          <a:xfrm>
            <a:off x="868680" y="2743200"/>
            <a:ext cx="283464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Code execution</a:t>
            </a:r>
            <a:endParaRPr lang="en-US" sz="2200" dirty="0"/>
          </a:p>
        </p:txBody>
      </p:sp>
      <p:sp>
        <p:nvSpPr>
          <p:cNvPr id="7" name="Text 4"/>
          <p:cNvSpPr txBox="1"/>
          <p:nvPr/>
        </p:nvSpPr>
        <p:spPr>
          <a:xfrm>
            <a:off x="868680" y="3246120"/>
            <a:ext cx="2880360" cy="1463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Commands run as the web server user (www-data). Typical next step: drop a webshell for persistent access.</a:t>
            </a:r>
            <a:endParaRPr lang="en-US" sz="1500" dirty="0"/>
          </a:p>
        </p:txBody>
      </p:sp>
      <p:sp>
        <p:nvSpPr>
          <p:cNvPr id="8" name="Memory disclosure card"/>
          <p:cNvSpPr/>
          <p:nvPr/>
        </p:nvSpPr>
        <p:spPr>
          <a:xfrm>
            <a:off x="4343400" y="1463040"/>
            <a:ext cx="3474720" cy="3383280"/>
          </a:xfrm>
          <a:prstGeom prst="roundRect">
            <a:avLst>
              <a:gd name="adj" fmla="val 3243"/>
            </a:avLst>
          </a:prstGeom>
          <a:solidFill>
            <a:schemeClr val="bg2"/>
          </a:solidFill>
          <a:ln/>
        </p:spPr>
      </p:sp>
      <p:sp>
        <p:nvSpPr>
          <p:cNvPr id="9" name="Memory disclosure circle"/>
          <p:cNvSpPr/>
          <p:nvPr/>
        </p:nvSpPr>
        <p:spPr>
          <a:xfrm>
            <a:off x="4663440" y="1737360"/>
            <a:ext cx="868680" cy="868680"/>
          </a:xfrm>
          <a:prstGeom prst="ellipse">
            <a:avLst/>
          </a:prstGeom>
          <a:solidFill>
            <a:schemeClr val="accent1"/>
          </a:solidFill>
          <a:ln/>
        </p:spPr>
      </p:sp>
      <p:pic>
        <p:nvPicPr>
          <p:cNvPr id="10" name="Memory disclosure icon" descr="Memory disclosure">    </p:cNvPr>
          <p:cNvPicPr>
            <a:picLocks noChangeAspect="1"/>
          </p:cNvPicPr>
          <p:nvPr/>
        </p:nvPicPr>
        <p:blipFill>
          <a:blip r:embed="rId2"/>
          <a:stretch>
            <a:fillRect/>
          </a:stretch>
        </p:blipFill>
        <p:spPr>
          <a:xfrm>
            <a:off x="4880610" y="1954530"/>
            <a:ext cx="434340" cy="434340"/>
          </a:xfrm>
          <a:prstGeom prst="rect">
            <a:avLst/>
          </a:prstGeom>
        </p:spPr>
      </p:pic>
      <p:sp>
        <p:nvSpPr>
          <p:cNvPr id="11" name="Text 7"/>
          <p:cNvSpPr txBox="1"/>
          <p:nvPr/>
        </p:nvSpPr>
        <p:spPr>
          <a:xfrm>
            <a:off x="4663440" y="2743200"/>
            <a:ext cx="283464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Memory disclosure</a:t>
            </a:r>
            <a:endParaRPr lang="en-US" sz="2200" dirty="0"/>
          </a:p>
        </p:txBody>
      </p:sp>
      <p:sp>
        <p:nvSpPr>
          <p:cNvPr id="12" name="Text 8"/>
          <p:cNvSpPr txBox="1"/>
          <p:nvPr/>
        </p:nvSpPr>
        <p:spPr>
          <a:xfrm>
            <a:off x="4663440" y="3246120"/>
            <a:ext cx="2880360" cy="1463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Even without RCE: read other users' passwords, session tokens, API keys from worker memory.</a:t>
            </a:r>
            <a:endParaRPr lang="en-US" sz="1500" dirty="0"/>
          </a:p>
        </p:txBody>
      </p:sp>
      <p:sp>
        <p:nvSpPr>
          <p:cNvPr id="13" name="Data and pivoting card"/>
          <p:cNvSpPr/>
          <p:nvPr/>
        </p:nvSpPr>
        <p:spPr>
          <a:xfrm>
            <a:off x="8138160" y="1463040"/>
            <a:ext cx="3474720" cy="3383280"/>
          </a:xfrm>
          <a:prstGeom prst="roundRect">
            <a:avLst>
              <a:gd name="adj" fmla="val 3243"/>
            </a:avLst>
          </a:prstGeom>
          <a:solidFill>
            <a:schemeClr val="bg2"/>
          </a:solidFill>
          <a:ln/>
        </p:spPr>
      </p:sp>
      <p:sp>
        <p:nvSpPr>
          <p:cNvPr id="14" name="Data and pivoting circle"/>
          <p:cNvSpPr/>
          <p:nvPr/>
        </p:nvSpPr>
        <p:spPr>
          <a:xfrm>
            <a:off x="8458200" y="1737360"/>
            <a:ext cx="868680" cy="868680"/>
          </a:xfrm>
          <a:prstGeom prst="ellipse">
            <a:avLst/>
          </a:prstGeom>
          <a:solidFill>
            <a:schemeClr val="accent4"/>
          </a:solidFill>
          <a:ln/>
        </p:spPr>
      </p:sp>
      <p:pic>
        <p:nvPicPr>
          <p:cNvPr id="15" name="Data and pivoting icon" descr="Data and pivoting">    </p:cNvPr>
          <p:cNvPicPr>
            <a:picLocks noChangeAspect="1"/>
          </p:cNvPicPr>
          <p:nvPr/>
        </p:nvPicPr>
        <p:blipFill>
          <a:blip r:embed="rId3"/>
          <a:stretch>
            <a:fillRect/>
          </a:stretch>
        </p:blipFill>
        <p:spPr>
          <a:xfrm>
            <a:off x="8675370" y="1954530"/>
            <a:ext cx="434340" cy="434340"/>
          </a:xfrm>
          <a:prstGeom prst="rect">
            <a:avLst/>
          </a:prstGeom>
        </p:spPr>
      </p:pic>
      <p:sp>
        <p:nvSpPr>
          <p:cNvPr id="16" name="Text 11"/>
          <p:cNvSpPr txBox="1"/>
          <p:nvPr/>
        </p:nvSpPr>
        <p:spPr>
          <a:xfrm>
            <a:off x="8458200" y="2743200"/>
            <a:ext cx="283464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Data and pivoting</a:t>
            </a:r>
            <a:endParaRPr lang="en-US" sz="2200" dirty="0"/>
          </a:p>
        </p:txBody>
      </p:sp>
      <p:sp>
        <p:nvSpPr>
          <p:cNvPr id="17" name="Text 12"/>
          <p:cNvSpPr txBox="1"/>
          <p:nvPr/>
        </p:nvSpPr>
        <p:spPr>
          <a:xfrm>
            <a:off x="8458200" y="3246120"/>
            <a:ext cx="2880360" cy="14630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Read config.php → database credentials → full database. ~394,000 PHP hosts also expose SSH.</a:t>
            </a:r>
            <a:endParaRPr lang="en-US" sz="1500" dirty="0"/>
          </a:p>
        </p:txBody>
      </p:sp>
      <p:sp>
        <p:nvSpPr>
          <p:cNvPr id="18" name="Text 13"/>
          <p:cNvSpPr txBox="1"/>
          <p:nvPr/>
        </p:nvSpPr>
        <p:spPr>
          <a:xfrm>
            <a:off x="548640" y="5166360"/>
            <a:ext cx="11064240" cy="73152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CIA triad: </a:t>
            </a:r>
            <a:pPr indent="0" marL="0">
              <a:buNone/>
            </a:pPr>
            <a:r>
              <a:rPr lang="en-US" sz="1800" dirty="0">
                <a:solidFill>
                  <a:schemeClr val="tx1"/>
                </a:solidFill>
                <a:latin typeface="Calibri" pitchFamily="34" charset="0"/>
                <a:ea typeface="Calibri" pitchFamily="34" charset="-122"/>
                <a:cs typeface="Calibri" pitchFamily="34" charset="-120"/>
              </a:rPr>
              <a:t>all three broken. Confidentiality (leaked secrets), Integrity (modified files, webshells), Availability (crashed workers).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Timeline: a disclosure that leaked</a:t>
            </a:r>
            <a:endParaRPr lang="en-US" sz="3600" dirty="0"/>
          </a:p>
        </p:txBody>
      </p:sp>
      <p:sp>
        <p:nvSpPr>
          <p:cNvPr id="3" name="Timeline line"/>
          <p:cNvSpPr/>
          <p:nvPr/>
        </p:nvSpPr>
        <p:spPr>
          <a:xfrm>
            <a:off x="2779776" y="1508760"/>
            <a:ext cx="0" cy="4572000"/>
          </a:xfrm>
          <a:prstGeom prst="line">
            <a:avLst/>
          </a:prstGeom>
          <a:noFill/>
          <a:ln w="25400">
            <a:solidFill>
              <a:srgbClr val="6B7A8C"/>
            </a:solidFill>
            <a:prstDash val="solid"/>
          </a:ln>
        </p:spPr>
      </p:sp>
      <p:sp>
        <p:nvSpPr>
          <p:cNvPr id="4" name="Text 2"/>
          <p:cNvSpPr txBox="1"/>
          <p:nvPr/>
        </p:nvSpPr>
        <p:spPr>
          <a:xfrm>
            <a:off x="548640" y="1417320"/>
            <a:ext cx="1920240" cy="457200"/>
          </a:xfrm>
          <a:prstGeom prst="rect">
            <a:avLst/>
          </a:prstGeom>
          <a:noFill/>
          <a:ln/>
        </p:spPr>
        <p:txBody>
          <a:bodyPr wrap="square" lIns="0" tIns="0" rIns="0" bIns="0" rtlCol="0" anchor="ctr"/>
          <a:lstStyle/>
          <a:p>
            <a:pPr algn="r" indent="0" marL="0">
              <a:buNone/>
            </a:pPr>
            <a:r>
              <a:rPr lang="en-US" sz="1600" b="1" dirty="0">
                <a:solidFill>
                  <a:schemeClr val="tx2"/>
                </a:solidFill>
                <a:latin typeface="Calibri" pitchFamily="34" charset="0"/>
                <a:ea typeface="Calibri" pitchFamily="34" charset="-122"/>
                <a:cs typeface="Calibri" pitchFamily="34" charset="-120"/>
              </a:rPr>
              <a:t>Aug 19–24</a:t>
            </a:r>
            <a:endParaRPr lang="en-US" sz="1600" dirty="0"/>
          </a:p>
        </p:txBody>
      </p:sp>
      <p:sp>
        <p:nvSpPr>
          <p:cNvPr id="5" name="Dot 1"/>
          <p:cNvSpPr/>
          <p:nvPr/>
        </p:nvSpPr>
        <p:spPr>
          <a:xfrm>
            <a:off x="2651760" y="1517904"/>
            <a:ext cx="256032" cy="256032"/>
          </a:xfrm>
          <a:prstGeom prst="ellipse">
            <a:avLst/>
          </a:prstGeom>
          <a:solidFill>
            <a:schemeClr val="accent2"/>
          </a:solidFill>
          <a:ln w="25400">
            <a:solidFill>
              <a:srgbClr val="FFFFFF"/>
            </a:solidFill>
            <a:prstDash val="solid"/>
          </a:ln>
        </p:spPr>
      </p:sp>
      <p:sp>
        <p:nvSpPr>
          <p:cNvPr id="6" name="Text 4"/>
          <p:cNvSpPr txBox="1"/>
          <p:nvPr/>
        </p:nvSpPr>
        <p:spPr>
          <a:xfrm>
            <a:off x="3200400" y="1417320"/>
            <a:ext cx="841248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Wiz Research finds the bugs (with AI help), proves RCE on WordPress and Drupal, reports privately</a:t>
            </a:r>
            <a:endParaRPr lang="en-US" sz="1600" dirty="0"/>
          </a:p>
        </p:txBody>
      </p:sp>
      <p:sp>
        <p:nvSpPr>
          <p:cNvPr id="7" name="Text 5"/>
          <p:cNvSpPr txBox="1"/>
          <p:nvPr/>
        </p:nvSpPr>
        <p:spPr>
          <a:xfrm>
            <a:off x="548640" y="2203704"/>
            <a:ext cx="1920240" cy="457200"/>
          </a:xfrm>
          <a:prstGeom prst="rect">
            <a:avLst/>
          </a:prstGeom>
          <a:noFill/>
          <a:ln/>
        </p:spPr>
        <p:txBody>
          <a:bodyPr wrap="square" lIns="0" tIns="0" rIns="0" bIns="0" rtlCol="0" anchor="ctr"/>
          <a:lstStyle/>
          <a:p>
            <a:pPr algn="r" indent="0" marL="0">
              <a:buNone/>
            </a:pPr>
            <a:r>
              <a:rPr lang="en-US" sz="1600" b="1" dirty="0">
                <a:solidFill>
                  <a:schemeClr val="tx2"/>
                </a:solidFill>
                <a:latin typeface="Calibri" pitchFamily="34" charset="0"/>
                <a:ea typeface="Calibri" pitchFamily="34" charset="-122"/>
                <a:cs typeface="Calibri" pitchFamily="34" charset="-120"/>
              </a:rPr>
              <a:t>Sep 21</a:t>
            </a:r>
            <a:endParaRPr lang="en-US" sz="1600" dirty="0"/>
          </a:p>
        </p:txBody>
      </p:sp>
      <p:sp>
        <p:nvSpPr>
          <p:cNvPr id="8" name="Dot 2"/>
          <p:cNvSpPr/>
          <p:nvPr/>
        </p:nvSpPr>
        <p:spPr>
          <a:xfrm>
            <a:off x="2651760" y="2304288"/>
            <a:ext cx="256032" cy="256032"/>
          </a:xfrm>
          <a:prstGeom prst="ellipse">
            <a:avLst/>
          </a:prstGeom>
          <a:solidFill>
            <a:schemeClr val="accent2"/>
          </a:solidFill>
          <a:ln w="25400">
            <a:solidFill>
              <a:srgbClr val="FFFFFF"/>
            </a:solidFill>
            <a:prstDash val="solid"/>
          </a:ln>
        </p:spPr>
      </p:sp>
      <p:sp>
        <p:nvSpPr>
          <p:cNvPr id="9" name="Text 7"/>
          <p:cNvSpPr txBox="1"/>
          <p:nvPr/>
        </p:nvSpPr>
        <p:spPr>
          <a:xfrm>
            <a:off x="3200400" y="2203704"/>
            <a:ext cx="841248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PHP security team confirms and starts writing fixes. Distros get patches in advance</a:t>
            </a:r>
            <a:endParaRPr lang="en-US" sz="1600" dirty="0"/>
          </a:p>
        </p:txBody>
      </p:sp>
      <p:sp>
        <p:nvSpPr>
          <p:cNvPr id="10" name="Text 8"/>
          <p:cNvSpPr txBox="1"/>
          <p:nvPr/>
        </p:nvSpPr>
        <p:spPr>
          <a:xfrm>
            <a:off x="548640" y="2990088"/>
            <a:ext cx="1920240" cy="457200"/>
          </a:xfrm>
          <a:prstGeom prst="rect">
            <a:avLst/>
          </a:prstGeom>
          <a:noFill/>
          <a:ln/>
        </p:spPr>
        <p:txBody>
          <a:bodyPr wrap="square" lIns="0" tIns="0" rIns="0" bIns="0" rtlCol="0" anchor="ctr"/>
          <a:lstStyle/>
          <a:p>
            <a:pPr algn="r" indent="0" marL="0">
              <a:buNone/>
            </a:pPr>
            <a:r>
              <a:rPr lang="en-US" sz="1600" b="1" dirty="0">
                <a:solidFill>
                  <a:schemeClr val="tx2"/>
                </a:solidFill>
                <a:latin typeface="Calibri" pitchFamily="34" charset="0"/>
                <a:ea typeface="Calibri" pitchFamily="34" charset="-122"/>
                <a:cs typeface="Calibri" pitchFamily="34" charset="-120"/>
              </a:rPr>
              <a:t>Oct 20</a:t>
            </a:r>
            <a:endParaRPr lang="en-US" sz="1600" dirty="0"/>
          </a:p>
        </p:txBody>
      </p:sp>
      <p:sp>
        <p:nvSpPr>
          <p:cNvPr id="11" name="Dot 3"/>
          <p:cNvSpPr/>
          <p:nvPr/>
        </p:nvSpPr>
        <p:spPr>
          <a:xfrm>
            <a:off x="2651760" y="3090672"/>
            <a:ext cx="256032" cy="256032"/>
          </a:xfrm>
          <a:prstGeom prst="ellipse">
            <a:avLst/>
          </a:prstGeom>
          <a:solidFill>
            <a:schemeClr val="accent1"/>
          </a:solidFill>
          <a:ln w="25400">
            <a:solidFill>
              <a:srgbClr val="FFFFFF"/>
            </a:solidFill>
            <a:prstDash val="solid"/>
          </a:ln>
        </p:spPr>
      </p:sp>
      <p:sp>
        <p:nvSpPr>
          <p:cNvPr id="12" name="Text 10"/>
          <p:cNvSpPr txBox="1"/>
          <p:nvPr/>
        </p:nvSpPr>
        <p:spPr>
          <a:xfrm>
            <a:off x="3200400" y="2990088"/>
            <a:ext cx="841248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CVE IDs leak on Hacker News before the embargo. PHP announces release for next day</a:t>
            </a:r>
            <a:endParaRPr lang="en-US" sz="1600" dirty="0"/>
          </a:p>
        </p:txBody>
      </p:sp>
      <p:sp>
        <p:nvSpPr>
          <p:cNvPr id="13" name="Text 11"/>
          <p:cNvSpPr txBox="1"/>
          <p:nvPr/>
        </p:nvSpPr>
        <p:spPr>
          <a:xfrm>
            <a:off x="548640" y="3776472"/>
            <a:ext cx="1920240" cy="457200"/>
          </a:xfrm>
          <a:prstGeom prst="rect">
            <a:avLst/>
          </a:prstGeom>
          <a:noFill/>
          <a:ln/>
        </p:spPr>
        <p:txBody>
          <a:bodyPr wrap="square" lIns="0" tIns="0" rIns="0" bIns="0" rtlCol="0" anchor="ctr"/>
          <a:lstStyle/>
          <a:p>
            <a:pPr algn="r" indent="0" marL="0">
              <a:buNone/>
            </a:pPr>
            <a:r>
              <a:rPr lang="en-US" sz="1600" b="1" dirty="0">
                <a:solidFill>
                  <a:schemeClr val="tx2"/>
                </a:solidFill>
                <a:latin typeface="Calibri" pitchFamily="34" charset="0"/>
                <a:ea typeface="Calibri" pitchFamily="34" charset="-122"/>
                <a:cs typeface="Calibri" pitchFamily="34" charset="-120"/>
              </a:rPr>
              <a:t>Oct 21 · 02:29</a:t>
            </a:r>
            <a:endParaRPr lang="en-US" sz="1600" dirty="0"/>
          </a:p>
        </p:txBody>
      </p:sp>
      <p:sp>
        <p:nvSpPr>
          <p:cNvPr id="14" name="Dot 4"/>
          <p:cNvSpPr/>
          <p:nvPr/>
        </p:nvSpPr>
        <p:spPr>
          <a:xfrm>
            <a:off x="2651760" y="3877056"/>
            <a:ext cx="256032" cy="256032"/>
          </a:xfrm>
          <a:prstGeom prst="ellipse">
            <a:avLst/>
          </a:prstGeom>
          <a:solidFill>
            <a:schemeClr val="accent3"/>
          </a:solidFill>
          <a:ln w="25400">
            <a:solidFill>
              <a:srgbClr val="FFFFFF"/>
            </a:solidFill>
            <a:prstDash val="solid"/>
          </a:ln>
        </p:spPr>
      </p:sp>
      <p:sp>
        <p:nvSpPr>
          <p:cNvPr id="15" name="Text 13"/>
          <p:cNvSpPr txBox="1"/>
          <p:nvPr/>
        </p:nvSpPr>
        <p:spPr>
          <a:xfrm>
            <a:off x="3200400" y="3776472"/>
            <a:ext cx="841248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Archive with exploit details appears on VirusTotal</a:t>
            </a:r>
            <a:endParaRPr lang="en-US" sz="1600" dirty="0"/>
          </a:p>
        </p:txBody>
      </p:sp>
      <p:sp>
        <p:nvSpPr>
          <p:cNvPr id="16" name="Text 14"/>
          <p:cNvSpPr txBox="1"/>
          <p:nvPr/>
        </p:nvSpPr>
        <p:spPr>
          <a:xfrm>
            <a:off x="548640" y="4562856"/>
            <a:ext cx="1920240" cy="457200"/>
          </a:xfrm>
          <a:prstGeom prst="rect">
            <a:avLst/>
          </a:prstGeom>
          <a:noFill/>
          <a:ln/>
        </p:spPr>
        <p:txBody>
          <a:bodyPr wrap="square" lIns="0" tIns="0" rIns="0" bIns="0" rtlCol="0" anchor="ctr"/>
          <a:lstStyle/>
          <a:p>
            <a:pPr algn="r" indent="0" marL="0">
              <a:buNone/>
            </a:pPr>
            <a:r>
              <a:rPr lang="en-US" sz="1600" b="1" dirty="0">
                <a:solidFill>
                  <a:schemeClr val="tx2"/>
                </a:solidFill>
                <a:latin typeface="Calibri" pitchFamily="34" charset="0"/>
                <a:ea typeface="Calibri" pitchFamily="34" charset="-122"/>
                <a:cs typeface="Calibri" pitchFamily="34" charset="-120"/>
              </a:rPr>
              <a:t>Oct 21 · 07:34</a:t>
            </a:r>
            <a:endParaRPr lang="en-US" sz="1600" dirty="0"/>
          </a:p>
        </p:txBody>
      </p:sp>
      <p:sp>
        <p:nvSpPr>
          <p:cNvPr id="17" name="Dot 5"/>
          <p:cNvSpPr/>
          <p:nvPr/>
        </p:nvSpPr>
        <p:spPr>
          <a:xfrm>
            <a:off x="2651760" y="4663440"/>
            <a:ext cx="256032" cy="256032"/>
          </a:xfrm>
          <a:prstGeom prst="ellipse">
            <a:avLst/>
          </a:prstGeom>
          <a:solidFill>
            <a:schemeClr val="accent3"/>
          </a:solidFill>
          <a:ln w="25400">
            <a:solidFill>
              <a:srgbClr val="FFFFFF"/>
            </a:solidFill>
            <a:prstDash val="solid"/>
          </a:ln>
        </p:spPr>
      </p:sp>
      <p:sp>
        <p:nvSpPr>
          <p:cNvPr id="18" name="Text 16"/>
          <p:cNvSpPr txBox="1"/>
          <p:nvPr/>
        </p:nvSpPr>
        <p:spPr>
          <a:xfrm>
            <a:off x="3200400" y="4562856"/>
            <a:ext cx="841248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Patchstack reports first attacks via hosting partners. Cloudflare sees attempts</a:t>
            </a:r>
            <a:endParaRPr lang="en-US" sz="1600" dirty="0"/>
          </a:p>
        </p:txBody>
      </p:sp>
      <p:sp>
        <p:nvSpPr>
          <p:cNvPr id="19" name="Text 17"/>
          <p:cNvSpPr txBox="1"/>
          <p:nvPr/>
        </p:nvSpPr>
        <p:spPr>
          <a:xfrm>
            <a:off x="548640" y="5349240"/>
            <a:ext cx="1920240" cy="457200"/>
          </a:xfrm>
          <a:prstGeom prst="rect">
            <a:avLst/>
          </a:prstGeom>
          <a:noFill/>
          <a:ln/>
        </p:spPr>
        <p:txBody>
          <a:bodyPr wrap="square" lIns="0" tIns="0" rIns="0" bIns="0" rtlCol="0" anchor="ctr"/>
          <a:lstStyle/>
          <a:p>
            <a:pPr algn="r" indent="0" marL="0">
              <a:buNone/>
            </a:pPr>
            <a:r>
              <a:rPr lang="en-US" sz="1600" b="1" dirty="0">
                <a:solidFill>
                  <a:schemeClr val="tx2"/>
                </a:solidFill>
                <a:latin typeface="Calibri" pitchFamily="34" charset="0"/>
                <a:ea typeface="Calibri" pitchFamily="34" charset="-122"/>
                <a:cs typeface="Calibri" pitchFamily="34" charset="-120"/>
              </a:rPr>
              <a:t>Oct 21 · 13:52</a:t>
            </a:r>
            <a:endParaRPr lang="en-US" sz="1600" dirty="0"/>
          </a:p>
        </p:txBody>
      </p:sp>
      <p:sp>
        <p:nvSpPr>
          <p:cNvPr id="20" name="Dot 6"/>
          <p:cNvSpPr/>
          <p:nvPr/>
        </p:nvSpPr>
        <p:spPr>
          <a:xfrm>
            <a:off x="2651760" y="5449824"/>
            <a:ext cx="256032" cy="256032"/>
          </a:xfrm>
          <a:prstGeom prst="ellipse">
            <a:avLst/>
          </a:prstGeom>
          <a:solidFill>
            <a:schemeClr val="accent4"/>
          </a:solidFill>
          <a:ln w="25400">
            <a:solidFill>
              <a:srgbClr val="FFFFFF"/>
            </a:solidFill>
            <a:prstDash val="solid"/>
          </a:ln>
        </p:spPr>
      </p:sp>
      <p:sp>
        <p:nvSpPr>
          <p:cNvPr id="21" name="Text 19"/>
          <p:cNvSpPr txBox="1"/>
          <p:nvPr/>
        </p:nvSpPr>
        <p:spPr>
          <a:xfrm>
            <a:off x="3200400" y="5349240"/>
            <a:ext cx="841248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PHP releases fixes. CISA, CERT-EU and UK NCSC issue urgent alerts. Public PoCs appear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How it was fixed</a:t>
            </a:r>
            <a:endParaRPr lang="en-US" sz="3600" dirty="0"/>
          </a:p>
        </p:txBody>
      </p:sp>
      <p:sp>
        <p:nvSpPr>
          <p:cNvPr id="3" name="Text 1"/>
          <p:cNvSpPr txBox="1"/>
          <p:nvPr/>
        </p:nvSpPr>
        <p:spPr>
          <a:xfrm>
            <a:off x="548640" y="1371600"/>
            <a:ext cx="512064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Patched releases, 21 October 2026</a:t>
            </a:r>
            <a:endParaRPr lang="en-US" sz="1800" dirty="0"/>
          </a:p>
        </p:txBody>
      </p:sp>
      <p:sp>
        <p:nvSpPr>
          <p:cNvPr id="4" name="Version 8.5"/>
          <p:cNvSpPr/>
          <p:nvPr/>
        </p:nvSpPr>
        <p:spPr>
          <a:xfrm>
            <a:off x="548640" y="1874520"/>
            <a:ext cx="5120640" cy="640080"/>
          </a:xfrm>
          <a:prstGeom prst="roundRect">
            <a:avLst>
              <a:gd name="adj" fmla="val 17143"/>
            </a:avLst>
          </a:prstGeom>
          <a:solidFill>
            <a:schemeClr val="bg2"/>
          </a:solidFill>
          <a:ln/>
        </p:spPr>
      </p:sp>
      <p:sp>
        <p:nvSpPr>
          <p:cNvPr id="5" name="Text 3"/>
          <p:cNvSpPr txBox="1"/>
          <p:nvPr/>
        </p:nvSpPr>
        <p:spPr>
          <a:xfrm>
            <a:off x="822960" y="1874520"/>
            <a:ext cx="2011680" cy="640080"/>
          </a:xfrm>
          <a:prstGeom prst="rect">
            <a:avLst/>
          </a:prstGeom>
          <a:noFill/>
          <a:ln/>
        </p:spPr>
        <p:txBody>
          <a:bodyPr wrap="square" lIns="0" tIns="0" rIns="0" bIns="0" rtlCol="0" anchor="ctr"/>
          <a:lstStyle/>
          <a:p>
            <a:pPr indent="0" marL="0">
              <a:buNone/>
            </a:pPr>
            <a:r>
              <a:rPr lang="en-US" sz="1800" dirty="0">
                <a:solidFill>
                  <a:schemeClr val="accent5"/>
                </a:solidFill>
                <a:latin typeface="Calibri" pitchFamily="34" charset="0"/>
                <a:ea typeface="Calibri" pitchFamily="34" charset="-122"/>
                <a:cs typeface="Calibri" pitchFamily="34" charset="-120"/>
              </a:rPr>
              <a:t>PHP 8.5</a:t>
            </a:r>
            <a:endParaRPr lang="en-US" sz="1800" dirty="0"/>
          </a:p>
        </p:txBody>
      </p:sp>
      <p:sp>
        <p:nvSpPr>
          <p:cNvPr id="6" name="Text 4"/>
          <p:cNvSpPr txBox="1"/>
          <p:nvPr/>
        </p:nvSpPr>
        <p:spPr>
          <a:xfrm>
            <a:off x="2834640" y="1874520"/>
            <a:ext cx="2651760" cy="64008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8.5.12</a:t>
            </a:r>
            <a:endParaRPr lang="en-US" sz="2400" dirty="0"/>
          </a:p>
        </p:txBody>
      </p:sp>
      <p:sp>
        <p:nvSpPr>
          <p:cNvPr id="7" name="Version 8.4"/>
          <p:cNvSpPr/>
          <p:nvPr/>
        </p:nvSpPr>
        <p:spPr>
          <a:xfrm>
            <a:off x="548640" y="2651760"/>
            <a:ext cx="5120640" cy="640080"/>
          </a:xfrm>
          <a:prstGeom prst="roundRect">
            <a:avLst>
              <a:gd name="adj" fmla="val 17143"/>
            </a:avLst>
          </a:prstGeom>
          <a:solidFill>
            <a:schemeClr val="bg2"/>
          </a:solidFill>
          <a:ln/>
        </p:spPr>
      </p:sp>
      <p:sp>
        <p:nvSpPr>
          <p:cNvPr id="8" name="Text 6"/>
          <p:cNvSpPr txBox="1"/>
          <p:nvPr/>
        </p:nvSpPr>
        <p:spPr>
          <a:xfrm>
            <a:off x="822960" y="2651760"/>
            <a:ext cx="2011680" cy="640080"/>
          </a:xfrm>
          <a:prstGeom prst="rect">
            <a:avLst/>
          </a:prstGeom>
          <a:noFill/>
          <a:ln/>
        </p:spPr>
        <p:txBody>
          <a:bodyPr wrap="square" lIns="0" tIns="0" rIns="0" bIns="0" rtlCol="0" anchor="ctr"/>
          <a:lstStyle/>
          <a:p>
            <a:pPr indent="0" marL="0">
              <a:buNone/>
            </a:pPr>
            <a:r>
              <a:rPr lang="en-US" sz="1800" dirty="0">
                <a:solidFill>
                  <a:schemeClr val="accent5"/>
                </a:solidFill>
                <a:latin typeface="Calibri" pitchFamily="34" charset="0"/>
                <a:ea typeface="Calibri" pitchFamily="34" charset="-122"/>
                <a:cs typeface="Calibri" pitchFamily="34" charset="-120"/>
              </a:rPr>
              <a:t>PHP 8.4</a:t>
            </a:r>
            <a:endParaRPr lang="en-US" sz="1800" dirty="0"/>
          </a:p>
        </p:txBody>
      </p:sp>
      <p:sp>
        <p:nvSpPr>
          <p:cNvPr id="9" name="Text 7"/>
          <p:cNvSpPr txBox="1"/>
          <p:nvPr/>
        </p:nvSpPr>
        <p:spPr>
          <a:xfrm>
            <a:off x="2834640" y="2651760"/>
            <a:ext cx="2651760" cy="64008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8.4.27</a:t>
            </a:r>
            <a:endParaRPr lang="en-US" sz="2400" dirty="0"/>
          </a:p>
        </p:txBody>
      </p:sp>
      <p:sp>
        <p:nvSpPr>
          <p:cNvPr id="10" name="Version 8.3"/>
          <p:cNvSpPr/>
          <p:nvPr/>
        </p:nvSpPr>
        <p:spPr>
          <a:xfrm>
            <a:off x="548640" y="3429000"/>
            <a:ext cx="5120640" cy="640080"/>
          </a:xfrm>
          <a:prstGeom prst="roundRect">
            <a:avLst>
              <a:gd name="adj" fmla="val 17143"/>
            </a:avLst>
          </a:prstGeom>
          <a:solidFill>
            <a:schemeClr val="bg2"/>
          </a:solidFill>
          <a:ln/>
        </p:spPr>
      </p:sp>
      <p:sp>
        <p:nvSpPr>
          <p:cNvPr id="11" name="Text 9"/>
          <p:cNvSpPr txBox="1"/>
          <p:nvPr/>
        </p:nvSpPr>
        <p:spPr>
          <a:xfrm>
            <a:off x="822960" y="3429000"/>
            <a:ext cx="2011680" cy="640080"/>
          </a:xfrm>
          <a:prstGeom prst="rect">
            <a:avLst/>
          </a:prstGeom>
          <a:noFill/>
          <a:ln/>
        </p:spPr>
        <p:txBody>
          <a:bodyPr wrap="square" lIns="0" tIns="0" rIns="0" bIns="0" rtlCol="0" anchor="ctr"/>
          <a:lstStyle/>
          <a:p>
            <a:pPr indent="0" marL="0">
              <a:buNone/>
            </a:pPr>
            <a:r>
              <a:rPr lang="en-US" sz="1800" dirty="0">
                <a:solidFill>
                  <a:schemeClr val="accent5"/>
                </a:solidFill>
                <a:latin typeface="Calibri" pitchFamily="34" charset="0"/>
                <a:ea typeface="Calibri" pitchFamily="34" charset="-122"/>
                <a:cs typeface="Calibri" pitchFamily="34" charset="-120"/>
              </a:rPr>
              <a:t>PHP 8.3</a:t>
            </a:r>
            <a:endParaRPr lang="en-US" sz="1800" dirty="0"/>
          </a:p>
        </p:txBody>
      </p:sp>
      <p:sp>
        <p:nvSpPr>
          <p:cNvPr id="12" name="Text 10"/>
          <p:cNvSpPr txBox="1"/>
          <p:nvPr/>
        </p:nvSpPr>
        <p:spPr>
          <a:xfrm>
            <a:off x="2834640" y="3429000"/>
            <a:ext cx="2651760" cy="64008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8.3.36</a:t>
            </a:r>
            <a:endParaRPr lang="en-US" sz="2400" dirty="0"/>
          </a:p>
        </p:txBody>
      </p:sp>
      <p:sp>
        <p:nvSpPr>
          <p:cNvPr id="13" name="Version 8.2"/>
          <p:cNvSpPr/>
          <p:nvPr/>
        </p:nvSpPr>
        <p:spPr>
          <a:xfrm>
            <a:off x="548640" y="4206240"/>
            <a:ext cx="5120640" cy="640080"/>
          </a:xfrm>
          <a:prstGeom prst="roundRect">
            <a:avLst>
              <a:gd name="adj" fmla="val 17143"/>
            </a:avLst>
          </a:prstGeom>
          <a:solidFill>
            <a:schemeClr val="bg2"/>
          </a:solidFill>
          <a:ln/>
        </p:spPr>
      </p:sp>
      <p:sp>
        <p:nvSpPr>
          <p:cNvPr id="14" name="Text 12"/>
          <p:cNvSpPr txBox="1"/>
          <p:nvPr/>
        </p:nvSpPr>
        <p:spPr>
          <a:xfrm>
            <a:off x="822960" y="4206240"/>
            <a:ext cx="2011680" cy="640080"/>
          </a:xfrm>
          <a:prstGeom prst="rect">
            <a:avLst/>
          </a:prstGeom>
          <a:noFill/>
          <a:ln/>
        </p:spPr>
        <p:txBody>
          <a:bodyPr wrap="square" lIns="0" tIns="0" rIns="0" bIns="0" rtlCol="0" anchor="ctr"/>
          <a:lstStyle/>
          <a:p>
            <a:pPr indent="0" marL="0">
              <a:buNone/>
            </a:pPr>
            <a:r>
              <a:rPr lang="en-US" sz="1800" dirty="0">
                <a:solidFill>
                  <a:schemeClr val="accent5"/>
                </a:solidFill>
                <a:latin typeface="Calibri" pitchFamily="34" charset="0"/>
                <a:ea typeface="Calibri" pitchFamily="34" charset="-122"/>
                <a:cs typeface="Calibri" pitchFamily="34" charset="-120"/>
              </a:rPr>
              <a:t>PHP 8.2</a:t>
            </a:r>
            <a:endParaRPr lang="en-US" sz="1800" dirty="0"/>
          </a:p>
        </p:txBody>
      </p:sp>
      <p:sp>
        <p:nvSpPr>
          <p:cNvPr id="15" name="Text 13"/>
          <p:cNvSpPr txBox="1"/>
          <p:nvPr/>
        </p:nvSpPr>
        <p:spPr>
          <a:xfrm>
            <a:off x="2834640" y="4206240"/>
            <a:ext cx="2651760" cy="64008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8.2.35</a:t>
            </a:r>
            <a:endParaRPr lang="en-US" sz="2400" dirty="0"/>
          </a:p>
        </p:txBody>
      </p:sp>
      <p:sp>
        <p:nvSpPr>
          <p:cNvPr id="16" name="Text 14"/>
          <p:cNvSpPr txBox="1"/>
          <p:nvPr/>
        </p:nvSpPr>
        <p:spPr>
          <a:xfrm>
            <a:off x="548640" y="5029200"/>
            <a:ext cx="5120640" cy="914400"/>
          </a:xfrm>
          <a:prstGeom prst="rect">
            <a:avLst/>
          </a:prstGeom>
          <a:noFill/>
          <a:ln/>
        </p:spPr>
        <p:txBody>
          <a:bodyPr wrap="square" lIns="0" tIns="0" rIns="0" bIns="0" rtlCol="0" anchor="t"/>
          <a:lstStyle/>
          <a:p>
            <a:pPr indent="0" marL="0">
              <a:buNone/>
            </a:pPr>
            <a:r>
              <a:rPr lang="en-US" sz="1500" i="1" dirty="0">
                <a:solidFill>
                  <a:schemeClr val="accent3"/>
                </a:solidFill>
                <a:latin typeface="Calibri" pitchFamily="34" charset="0"/>
                <a:ea typeface="Calibri" pitchFamily="34" charset="-122"/>
                <a:cs typeface="Calibri" pitchFamily="34" charset="-120"/>
              </a:rPr>
              <a:t>PHP 8.1 and older (EOL): no official release. Only source backports for 7.4–8.1, or a vendor/distro package.</a:t>
            </a:r>
            <a:endParaRPr lang="en-US" sz="1500" dirty="0"/>
          </a:p>
        </p:txBody>
      </p:sp>
      <p:sp>
        <p:nvSpPr>
          <p:cNvPr id="17" name="Text 15"/>
          <p:cNvSpPr txBox="1"/>
          <p:nvPr/>
        </p:nvSpPr>
        <p:spPr>
          <a:xfrm>
            <a:off x="6263640" y="1371600"/>
            <a:ext cx="534924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What the patch changes</a:t>
            </a:r>
            <a:endParaRPr lang="en-US" sz="1800" dirty="0"/>
          </a:p>
        </p:txBody>
      </p:sp>
      <p:sp>
        <p:nvSpPr>
          <p:cNvPr id="18" name="Cleanup checks state circle"/>
          <p:cNvSpPr/>
          <p:nvPr/>
        </p:nvSpPr>
        <p:spPr>
          <a:xfrm>
            <a:off x="6263640" y="1920240"/>
            <a:ext cx="731520" cy="731520"/>
          </a:xfrm>
          <a:prstGeom prst="ellipse">
            <a:avLst/>
          </a:prstGeom>
          <a:solidFill>
            <a:schemeClr val="tx2"/>
          </a:solidFill>
          <a:ln/>
        </p:spPr>
      </p:sp>
      <p:pic>
        <p:nvPicPr>
          <p:cNvPr id="19" name="Cleanup checks state icon" descr="Cleanup checks state">    </p:cNvPr>
          <p:cNvPicPr>
            <a:picLocks noChangeAspect="1"/>
          </p:cNvPicPr>
          <p:nvPr/>
        </p:nvPicPr>
        <p:blipFill>
          <a:blip r:embed="rId1"/>
          <a:stretch>
            <a:fillRect/>
          </a:stretch>
        </p:blipFill>
        <p:spPr>
          <a:xfrm>
            <a:off x="6446520" y="2103120"/>
            <a:ext cx="365760" cy="365760"/>
          </a:xfrm>
          <a:prstGeom prst="rect">
            <a:avLst/>
          </a:prstGeom>
        </p:spPr>
      </p:pic>
      <p:sp>
        <p:nvSpPr>
          <p:cNvPr id="20" name="Text 17"/>
          <p:cNvSpPr txBox="1"/>
          <p:nvPr/>
        </p:nvSpPr>
        <p:spPr>
          <a:xfrm>
            <a:off x="7223760" y="1874520"/>
            <a:ext cx="4389120" cy="384048"/>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Cleanup checks state</a:t>
            </a:r>
            <a:endParaRPr lang="en-US" sz="1800" dirty="0"/>
          </a:p>
        </p:txBody>
      </p:sp>
      <p:sp>
        <p:nvSpPr>
          <p:cNvPr id="21" name="Text 18"/>
          <p:cNvSpPr txBox="1"/>
          <p:nvPr/>
        </p:nvSpPr>
        <p:spPr>
          <a:xfrm>
            <a:off x="7223760" y="2258568"/>
            <a:ext cx="438912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Out-of-memory paths no longer free half-built request data</a:t>
            </a:r>
            <a:endParaRPr lang="en-US" sz="1400" dirty="0"/>
          </a:p>
        </p:txBody>
      </p:sp>
      <p:sp>
        <p:nvSpPr>
          <p:cNvPr id="22" name="Reset between requests circle"/>
          <p:cNvSpPr/>
          <p:nvPr/>
        </p:nvSpPr>
        <p:spPr>
          <a:xfrm>
            <a:off x="6263640" y="3017520"/>
            <a:ext cx="731520" cy="731520"/>
          </a:xfrm>
          <a:prstGeom prst="ellipse">
            <a:avLst/>
          </a:prstGeom>
          <a:solidFill>
            <a:schemeClr val="tx2"/>
          </a:solidFill>
          <a:ln/>
        </p:spPr>
      </p:sp>
      <p:pic>
        <p:nvPicPr>
          <p:cNvPr id="23" name="Reset between requests icon" descr="Reset between requests">    </p:cNvPr>
          <p:cNvPicPr>
            <a:picLocks noChangeAspect="1"/>
          </p:cNvPicPr>
          <p:nvPr/>
        </p:nvPicPr>
        <p:blipFill>
          <a:blip r:embed="rId2"/>
          <a:stretch>
            <a:fillRect/>
          </a:stretch>
        </p:blipFill>
        <p:spPr>
          <a:xfrm>
            <a:off x="6446520" y="3200400"/>
            <a:ext cx="365760" cy="365760"/>
          </a:xfrm>
          <a:prstGeom prst="rect">
            <a:avLst/>
          </a:prstGeom>
        </p:spPr>
      </p:pic>
      <p:sp>
        <p:nvSpPr>
          <p:cNvPr id="24" name="Text 20"/>
          <p:cNvSpPr txBox="1"/>
          <p:nvPr/>
        </p:nvSpPr>
        <p:spPr>
          <a:xfrm>
            <a:off x="7223760" y="2971800"/>
            <a:ext cx="4389120" cy="384048"/>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Reset between requests</a:t>
            </a:r>
            <a:endParaRPr lang="en-US" sz="1800" dirty="0"/>
          </a:p>
        </p:txBody>
      </p:sp>
      <p:sp>
        <p:nvSpPr>
          <p:cNvPr id="25" name="Text 21"/>
          <p:cNvSpPr txBox="1"/>
          <p:nvPr/>
        </p:nvSpPr>
        <p:spPr>
          <a:xfrm>
            <a:off x="7223760" y="3355848"/>
            <a:ext cx="438912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Global error, session and backtrace state is cleared before reuse</a:t>
            </a:r>
            <a:endParaRPr lang="en-US" sz="1400" dirty="0"/>
          </a:p>
        </p:txBody>
      </p:sp>
      <p:sp>
        <p:nvSpPr>
          <p:cNvPr id="26" name="Hard memory limit circle"/>
          <p:cNvSpPr/>
          <p:nvPr/>
        </p:nvSpPr>
        <p:spPr>
          <a:xfrm>
            <a:off x="6263640" y="4114800"/>
            <a:ext cx="731520" cy="731520"/>
          </a:xfrm>
          <a:prstGeom prst="ellipse">
            <a:avLst/>
          </a:prstGeom>
          <a:solidFill>
            <a:schemeClr val="tx2"/>
          </a:solidFill>
          <a:ln/>
        </p:spPr>
      </p:sp>
      <p:pic>
        <p:nvPicPr>
          <p:cNvPr id="27" name="Hard memory limit icon" descr="Hard memory limit">    </p:cNvPr>
          <p:cNvPicPr>
            <a:picLocks noChangeAspect="1"/>
          </p:cNvPicPr>
          <p:nvPr/>
        </p:nvPicPr>
        <p:blipFill>
          <a:blip r:embed="rId3"/>
          <a:stretch>
            <a:fillRect/>
          </a:stretch>
        </p:blipFill>
        <p:spPr>
          <a:xfrm>
            <a:off x="6446520" y="4297680"/>
            <a:ext cx="365760" cy="365760"/>
          </a:xfrm>
          <a:prstGeom prst="rect">
            <a:avLst/>
          </a:prstGeom>
        </p:spPr>
      </p:pic>
      <p:sp>
        <p:nvSpPr>
          <p:cNvPr id="28" name="Text 23"/>
          <p:cNvSpPr txBox="1"/>
          <p:nvPr/>
        </p:nvSpPr>
        <p:spPr>
          <a:xfrm>
            <a:off x="7223760" y="4069080"/>
            <a:ext cx="4389120" cy="384048"/>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Hard memory limit</a:t>
            </a:r>
            <a:endParaRPr lang="en-US" sz="1800" dirty="0"/>
          </a:p>
        </p:txBody>
      </p:sp>
      <p:sp>
        <p:nvSpPr>
          <p:cNvPr id="29" name="Text 24"/>
          <p:cNvSpPr txBox="1"/>
          <p:nvPr/>
        </p:nvSpPr>
        <p:spPr>
          <a:xfrm>
            <a:off x="7223760" y="4453128"/>
            <a:ext cx="438912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worker at its memory limit is now killed instead of continuing</a:t>
            </a:r>
            <a:endParaRPr lang="en-US" sz="1400" dirty="0"/>
          </a:p>
        </p:txBody>
      </p:sp>
      <p:sp>
        <p:nvSpPr>
          <p:cNvPr id="30" name="Text 25"/>
          <p:cNvSpPr txBox="1"/>
          <p:nvPr/>
        </p:nvSpPr>
        <p:spPr>
          <a:xfrm>
            <a:off x="6263640" y="5257800"/>
            <a:ext cx="5349240" cy="68580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Fixes by the PHP core team (arnaud-lb, iluuu1994, bukka, ndossche). Advisories: GHSA-w8hw-w9fx-j79w, GHSA-6wmf-4rv5-p3rp</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If you cannot patch today</a:t>
            </a:r>
            <a:endParaRPr lang="en-US" sz="3600" dirty="0"/>
          </a:p>
        </p:txBody>
      </p:sp>
      <p:sp>
        <p:nvSpPr>
          <p:cNvPr id="3" name="Text 1"/>
          <p:cNvSpPr txBox="1"/>
          <p:nvPr/>
        </p:nvSpPr>
        <p:spPr>
          <a:xfrm>
            <a:off x="548640" y="1325880"/>
            <a:ext cx="11064240" cy="411480"/>
          </a:xfrm>
          <a:prstGeom prst="rect">
            <a:avLst/>
          </a:prstGeom>
          <a:noFill/>
          <a:ln/>
        </p:spPr>
        <p:txBody>
          <a:bodyPr wrap="square" lIns="0" tIns="0" rIns="0" bIns="0" rtlCol="0" anchor="t"/>
          <a:lstStyle/>
          <a:p>
            <a:pPr indent="0" marL="0">
              <a:buNone/>
            </a:pPr>
            <a:r>
              <a:rPr lang="en-US" sz="1800" i="1" dirty="0">
                <a:solidFill>
                  <a:schemeClr val="accent5"/>
                </a:solidFill>
                <a:latin typeface="Calibri" pitchFamily="34" charset="0"/>
                <a:ea typeface="Calibri" pitchFamily="34" charset="-122"/>
                <a:cs typeface="Calibri" pitchFamily="34" charset="-120"/>
              </a:rPr>
              <a:t>Temporary mitigations: they reduce risk, they do not remove it</a:t>
            </a:r>
            <a:endParaRPr lang="en-US" sz="1800" dirty="0"/>
          </a:p>
        </p:txBody>
      </p:sp>
      <p:sp>
        <p:nvSpPr>
          <p:cNvPr id="4" name="php.ini card"/>
          <p:cNvSpPr/>
          <p:nvPr/>
        </p:nvSpPr>
        <p:spPr>
          <a:xfrm>
            <a:off x="548640" y="1920240"/>
            <a:ext cx="5669280" cy="3566160"/>
          </a:xfrm>
          <a:prstGeom prst="roundRect">
            <a:avLst>
              <a:gd name="adj" fmla="val 3077"/>
            </a:avLst>
          </a:prstGeom>
          <a:solidFill>
            <a:schemeClr val="tx2"/>
          </a:solidFill>
          <a:ln/>
        </p:spPr>
      </p:sp>
      <p:sp>
        <p:nvSpPr>
          <p:cNvPr id="5" name="Text 3"/>
          <p:cNvSpPr txBox="1"/>
          <p:nvPr/>
        </p:nvSpPr>
        <p:spPr>
          <a:xfrm>
            <a:off x="822960" y="2103120"/>
            <a:ext cx="5120640" cy="41148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php.ini / FPM pool, then restart</a:t>
            </a:r>
            <a:endParaRPr lang="en-US" sz="1800" dirty="0"/>
          </a:p>
        </p:txBody>
      </p:sp>
      <p:sp>
        <p:nvSpPr>
          <p:cNvPr id="6" name="Text 4"/>
          <p:cNvSpPr txBox="1"/>
          <p:nvPr/>
        </p:nvSpPr>
        <p:spPr>
          <a:xfrm>
            <a:off x="822960" y="2651760"/>
            <a:ext cx="5257800" cy="265176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session.upload_progress.enabled = 0</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fatal_error_backtraces = 0   ; PHP 8.5</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post_max_size = 8M</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upload_max_filesize = 4M</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pm.max_requests = 1          ; optional</a:t>
            </a:r>
            <a:endParaRPr lang="en-US" sz="1500" dirty="0"/>
          </a:p>
        </p:txBody>
      </p:sp>
      <p:sp>
        <p:nvSpPr>
          <p:cNvPr id="7" name="WAF / reverse proxy circle"/>
          <p:cNvSpPr/>
          <p:nvPr/>
        </p:nvSpPr>
        <p:spPr>
          <a:xfrm>
            <a:off x="6583680" y="1965960"/>
            <a:ext cx="731520" cy="731520"/>
          </a:xfrm>
          <a:prstGeom prst="ellipse">
            <a:avLst/>
          </a:prstGeom>
          <a:solidFill>
            <a:schemeClr val="tx2"/>
          </a:solidFill>
          <a:ln/>
        </p:spPr>
      </p:sp>
      <p:pic>
        <p:nvPicPr>
          <p:cNvPr id="8" name="WAF / reverse proxy icon" descr="WAF / reverse proxy">    </p:cNvPr>
          <p:cNvPicPr>
            <a:picLocks noChangeAspect="1"/>
          </p:cNvPicPr>
          <p:nvPr/>
        </p:nvPicPr>
        <p:blipFill>
          <a:blip r:embed="rId1"/>
          <a:stretch>
            <a:fillRect/>
          </a:stretch>
        </p:blipFill>
        <p:spPr>
          <a:xfrm>
            <a:off x="6766560" y="2148840"/>
            <a:ext cx="365760" cy="365760"/>
          </a:xfrm>
          <a:prstGeom prst="rect">
            <a:avLst/>
          </a:prstGeom>
        </p:spPr>
      </p:pic>
      <p:sp>
        <p:nvSpPr>
          <p:cNvPr id="9" name="Text 6"/>
          <p:cNvSpPr txBox="1"/>
          <p:nvPr/>
        </p:nvSpPr>
        <p:spPr>
          <a:xfrm>
            <a:off x="7543800" y="1920240"/>
            <a:ext cx="4069080" cy="384048"/>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WAF / reverse proxy</a:t>
            </a:r>
            <a:endParaRPr lang="en-US" sz="1800" dirty="0"/>
          </a:p>
        </p:txBody>
      </p:sp>
      <p:sp>
        <p:nvSpPr>
          <p:cNvPr id="10" name="Text 7"/>
          <p:cNvSpPr txBox="1"/>
          <p:nvPr/>
        </p:nvSpPr>
        <p:spPr>
          <a:xfrm>
            <a:off x="7543800" y="2304288"/>
            <a:ext cx="4069080" cy="7772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Limit request size and number of multipart parts; block multipart where no uploads are used</a:t>
            </a:r>
            <a:endParaRPr lang="en-US" sz="1400" dirty="0"/>
          </a:p>
        </p:txBody>
      </p:sp>
      <p:sp>
        <p:nvSpPr>
          <p:cNvPr id="11" name="Isolate circle"/>
          <p:cNvSpPr/>
          <p:nvPr/>
        </p:nvSpPr>
        <p:spPr>
          <a:xfrm>
            <a:off x="6583680" y="3182112"/>
            <a:ext cx="731520" cy="731520"/>
          </a:xfrm>
          <a:prstGeom prst="ellipse">
            <a:avLst/>
          </a:prstGeom>
          <a:solidFill>
            <a:schemeClr val="tx2"/>
          </a:solidFill>
          <a:ln/>
        </p:spPr>
      </p:sp>
      <p:pic>
        <p:nvPicPr>
          <p:cNvPr id="12" name="Isolate icon" descr="Isolate">    </p:cNvPr>
          <p:cNvPicPr>
            <a:picLocks noChangeAspect="1"/>
          </p:cNvPicPr>
          <p:nvPr/>
        </p:nvPicPr>
        <p:blipFill>
          <a:blip r:embed="rId2"/>
          <a:stretch>
            <a:fillRect/>
          </a:stretch>
        </p:blipFill>
        <p:spPr>
          <a:xfrm>
            <a:off x="6766560" y="3364992"/>
            <a:ext cx="365760" cy="365760"/>
          </a:xfrm>
          <a:prstGeom prst="rect">
            <a:avLst/>
          </a:prstGeom>
        </p:spPr>
      </p:pic>
      <p:sp>
        <p:nvSpPr>
          <p:cNvPr id="13" name="Text 9"/>
          <p:cNvSpPr txBox="1"/>
          <p:nvPr/>
        </p:nvSpPr>
        <p:spPr>
          <a:xfrm>
            <a:off x="7543800" y="3136392"/>
            <a:ext cx="4069080" cy="384048"/>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Isolate</a:t>
            </a:r>
            <a:endParaRPr lang="en-US" sz="1800" dirty="0"/>
          </a:p>
        </p:txBody>
      </p:sp>
      <p:sp>
        <p:nvSpPr>
          <p:cNvPr id="14" name="Text 10"/>
          <p:cNvSpPr txBox="1"/>
          <p:nvPr/>
        </p:nvSpPr>
        <p:spPr>
          <a:xfrm>
            <a:off x="7543800" y="3520440"/>
            <a:ext cx="4069080" cy="7772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Restrict to VPN or an IP allowlist, or take the service offline (CERT-EU advice)</a:t>
            </a:r>
            <a:endParaRPr lang="en-US" sz="1400" dirty="0"/>
          </a:p>
        </p:txBody>
      </p:sp>
      <p:sp>
        <p:nvSpPr>
          <p:cNvPr id="15" name="Hunt circle"/>
          <p:cNvSpPr/>
          <p:nvPr/>
        </p:nvSpPr>
        <p:spPr>
          <a:xfrm>
            <a:off x="6583680" y="4398264"/>
            <a:ext cx="731520" cy="731520"/>
          </a:xfrm>
          <a:prstGeom prst="ellipse">
            <a:avLst/>
          </a:prstGeom>
          <a:solidFill>
            <a:schemeClr val="tx2"/>
          </a:solidFill>
          <a:ln/>
        </p:spPr>
      </p:sp>
      <p:pic>
        <p:nvPicPr>
          <p:cNvPr id="16" name="Hunt icon" descr="Hunt">    </p:cNvPr>
          <p:cNvPicPr>
            <a:picLocks noChangeAspect="1"/>
          </p:cNvPicPr>
          <p:nvPr/>
        </p:nvPicPr>
        <p:blipFill>
          <a:blip r:embed="rId3"/>
          <a:stretch>
            <a:fillRect/>
          </a:stretch>
        </p:blipFill>
        <p:spPr>
          <a:xfrm>
            <a:off x="6766560" y="4581144"/>
            <a:ext cx="365760" cy="365760"/>
          </a:xfrm>
          <a:prstGeom prst="rect">
            <a:avLst/>
          </a:prstGeom>
        </p:spPr>
      </p:pic>
      <p:sp>
        <p:nvSpPr>
          <p:cNvPr id="17" name="Text 12"/>
          <p:cNvSpPr txBox="1"/>
          <p:nvPr/>
        </p:nvSpPr>
        <p:spPr>
          <a:xfrm>
            <a:off x="7543800" y="4352544"/>
            <a:ext cx="4069080" cy="384048"/>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Hunt</a:t>
            </a:r>
            <a:endParaRPr lang="en-US" sz="1800" dirty="0"/>
          </a:p>
        </p:txBody>
      </p:sp>
      <p:sp>
        <p:nvSpPr>
          <p:cNvPr id="18" name="Text 13"/>
          <p:cNvSpPr txBox="1"/>
          <p:nvPr/>
        </p:nvSpPr>
        <p:spPr>
          <a:xfrm>
            <a:off x="7543800" y="4736592"/>
            <a:ext cx="4069080" cy="7772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Look back from Oct 20: unknown files in the web root, child processes of php-fpm, odd outbound traffic</a:t>
            </a:r>
            <a:endParaRPr lang="en-US" sz="1400" dirty="0"/>
          </a:p>
        </p:txBody>
      </p:sp>
      <p:sp>
        <p:nvSpPr>
          <p:cNvPr id="19" name="Text 1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b="1" dirty="0">
                <a:solidFill>
                  <a:schemeClr val="accent3"/>
                </a:solidFill>
                <a:latin typeface="Calibri" pitchFamily="34" charset="0"/>
                <a:ea typeface="Calibri" pitchFamily="34" charset="-122"/>
                <a:cs typeface="Calibri" pitchFamily="34" charset="-120"/>
              </a:rPr>
              <a:t>Does not help: </a:t>
            </a:r>
            <a:pPr indent="0" marL="0">
              <a:buNone/>
            </a:pPr>
            <a:r>
              <a:rPr lang="en-US" sz="1600" dirty="0">
                <a:solidFill>
                  <a:schemeClr val="tx1"/>
                </a:solidFill>
                <a:latin typeface="Calibri" pitchFamily="34" charset="0"/>
                <a:ea typeface="Calibri" pitchFamily="34" charset="-122"/>
                <a:cs typeface="Calibri" pitchFamily="34" charset="-120"/>
              </a:rPr>
              <a:t>display_errors=Off, the @ operator, hiding the PHP version (expose_php=Off). Obscurity is not protection.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Lessons for this course</a:t>
            </a:r>
            <a:endParaRPr lang="en-US" sz="3600" dirty="0"/>
          </a:p>
        </p:txBody>
      </p:sp>
      <p:sp>
        <p:nvSpPr>
          <p:cNvPr id="3" name="Know what you run card"/>
          <p:cNvSpPr/>
          <p:nvPr/>
        </p:nvSpPr>
        <p:spPr>
          <a:xfrm>
            <a:off x="548640" y="1463040"/>
            <a:ext cx="5440680" cy="1737360"/>
          </a:xfrm>
          <a:prstGeom prst="roundRect">
            <a:avLst>
              <a:gd name="adj" fmla="val 6316"/>
            </a:avLst>
          </a:prstGeom>
          <a:solidFill>
            <a:schemeClr val="bg2"/>
          </a:solidFill>
          <a:ln/>
        </p:spPr>
      </p:sp>
      <p:sp>
        <p:nvSpPr>
          <p:cNvPr id="4" name="Know what you run circle"/>
          <p:cNvSpPr/>
          <p:nvPr/>
        </p:nvSpPr>
        <p:spPr>
          <a:xfrm>
            <a:off x="822960" y="1874520"/>
            <a:ext cx="868680" cy="868680"/>
          </a:xfrm>
          <a:prstGeom prst="ellipse">
            <a:avLst/>
          </a:prstGeom>
          <a:solidFill>
            <a:schemeClr val="tx2"/>
          </a:solidFill>
          <a:ln/>
        </p:spPr>
      </p:sp>
      <p:pic>
        <p:nvPicPr>
          <p:cNvPr id="5" name="Know what you run icon" descr="Know what you run">    </p:cNvPr>
          <p:cNvPicPr>
            <a:picLocks noChangeAspect="1"/>
          </p:cNvPicPr>
          <p:nvPr/>
        </p:nvPicPr>
        <p:blipFill>
          <a:blip r:embed="rId1"/>
          <a:stretch>
            <a:fillRect/>
          </a:stretch>
        </p:blipFill>
        <p:spPr>
          <a:xfrm>
            <a:off x="1040130" y="2091690"/>
            <a:ext cx="434340" cy="434340"/>
          </a:xfrm>
          <a:prstGeom prst="rect">
            <a:avLst/>
          </a:prstGeom>
        </p:spPr>
      </p:pic>
      <p:sp>
        <p:nvSpPr>
          <p:cNvPr id="6" name="Text 3"/>
          <p:cNvSpPr txBox="1"/>
          <p:nvPr/>
        </p:nvSpPr>
        <p:spPr>
          <a:xfrm>
            <a:off x="1920240" y="169164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Know what you run</a:t>
            </a:r>
            <a:endParaRPr lang="en-US" sz="2000" dirty="0"/>
          </a:p>
        </p:txBody>
      </p:sp>
      <p:sp>
        <p:nvSpPr>
          <p:cNvPr id="7" name="Text 4"/>
          <p:cNvSpPr txBox="1"/>
          <p:nvPr/>
        </p:nvSpPr>
        <p:spPr>
          <a:xfrm>
            <a:off x="1920240" y="2148840"/>
            <a:ext cx="38862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Inventory every PHP: servers, containers, appliances. You cannot patch what you do not know about.</a:t>
            </a:r>
            <a:endParaRPr lang="en-US" sz="1500" dirty="0"/>
          </a:p>
        </p:txBody>
      </p:sp>
      <p:sp>
        <p:nvSpPr>
          <p:cNvPr id="8" name="End-of-life is a risk card"/>
          <p:cNvSpPr/>
          <p:nvPr/>
        </p:nvSpPr>
        <p:spPr>
          <a:xfrm>
            <a:off x="6172200" y="1463040"/>
            <a:ext cx="5440680" cy="1737360"/>
          </a:xfrm>
          <a:prstGeom prst="roundRect">
            <a:avLst>
              <a:gd name="adj" fmla="val 6316"/>
            </a:avLst>
          </a:prstGeom>
          <a:solidFill>
            <a:schemeClr val="bg2"/>
          </a:solidFill>
          <a:ln/>
        </p:spPr>
      </p:sp>
      <p:sp>
        <p:nvSpPr>
          <p:cNvPr id="9" name="End-of-life is a risk circle"/>
          <p:cNvSpPr/>
          <p:nvPr/>
        </p:nvSpPr>
        <p:spPr>
          <a:xfrm>
            <a:off x="6446520" y="1874520"/>
            <a:ext cx="868680" cy="868680"/>
          </a:xfrm>
          <a:prstGeom prst="ellipse">
            <a:avLst/>
          </a:prstGeom>
          <a:solidFill>
            <a:schemeClr val="tx2"/>
          </a:solidFill>
          <a:ln/>
        </p:spPr>
      </p:sp>
      <p:pic>
        <p:nvPicPr>
          <p:cNvPr id="10" name="End-of-life is a risk icon" descr="End-of-life is a risk">    </p:cNvPr>
          <p:cNvPicPr>
            <a:picLocks noChangeAspect="1"/>
          </p:cNvPicPr>
          <p:nvPr/>
        </p:nvPicPr>
        <p:blipFill>
          <a:blip r:embed="rId2"/>
          <a:stretch>
            <a:fillRect/>
          </a:stretch>
        </p:blipFill>
        <p:spPr>
          <a:xfrm>
            <a:off x="6663690" y="2091690"/>
            <a:ext cx="434340" cy="434340"/>
          </a:xfrm>
          <a:prstGeom prst="rect">
            <a:avLst/>
          </a:prstGeom>
        </p:spPr>
      </p:pic>
      <p:sp>
        <p:nvSpPr>
          <p:cNvPr id="11" name="Text 7"/>
          <p:cNvSpPr txBox="1"/>
          <p:nvPr/>
        </p:nvSpPr>
        <p:spPr>
          <a:xfrm>
            <a:off x="7543800" y="169164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End-of-life is a risk</a:t>
            </a:r>
            <a:endParaRPr lang="en-US" sz="2000" dirty="0"/>
          </a:p>
        </p:txBody>
      </p:sp>
      <p:sp>
        <p:nvSpPr>
          <p:cNvPr id="12" name="Text 8"/>
          <p:cNvSpPr txBox="1"/>
          <p:nvPr/>
        </p:nvSpPr>
        <p:spPr>
          <a:xfrm>
            <a:off x="7543800" y="2148840"/>
            <a:ext cx="38862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~880,000 public hosts ran PHP branches that got no fix at all (PHP 5, 7, 8.0, 8.1).</a:t>
            </a:r>
            <a:endParaRPr lang="en-US" sz="1500" dirty="0"/>
          </a:p>
        </p:txBody>
      </p:sp>
      <p:sp>
        <p:nvSpPr>
          <p:cNvPr id="13" name="Patching is a process card"/>
          <p:cNvSpPr/>
          <p:nvPr/>
        </p:nvSpPr>
        <p:spPr>
          <a:xfrm>
            <a:off x="548640" y="3429000"/>
            <a:ext cx="5440680" cy="1737360"/>
          </a:xfrm>
          <a:prstGeom prst="roundRect">
            <a:avLst>
              <a:gd name="adj" fmla="val 6316"/>
            </a:avLst>
          </a:prstGeom>
          <a:solidFill>
            <a:schemeClr val="bg2"/>
          </a:solidFill>
          <a:ln/>
        </p:spPr>
      </p:sp>
      <p:sp>
        <p:nvSpPr>
          <p:cNvPr id="14" name="Patching is a process circle"/>
          <p:cNvSpPr/>
          <p:nvPr/>
        </p:nvSpPr>
        <p:spPr>
          <a:xfrm>
            <a:off x="822960" y="3840480"/>
            <a:ext cx="868680" cy="868680"/>
          </a:xfrm>
          <a:prstGeom prst="ellipse">
            <a:avLst/>
          </a:prstGeom>
          <a:solidFill>
            <a:schemeClr val="tx2"/>
          </a:solidFill>
          <a:ln/>
        </p:spPr>
      </p:sp>
      <p:pic>
        <p:nvPicPr>
          <p:cNvPr id="15" name="Patching is a process icon" descr="Patching is a process">    </p:cNvPr>
          <p:cNvPicPr>
            <a:picLocks noChangeAspect="1"/>
          </p:cNvPicPr>
          <p:nvPr/>
        </p:nvPicPr>
        <p:blipFill>
          <a:blip r:embed="rId3"/>
          <a:stretch>
            <a:fillRect/>
          </a:stretch>
        </p:blipFill>
        <p:spPr>
          <a:xfrm>
            <a:off x="1040130" y="4057650"/>
            <a:ext cx="434340" cy="434340"/>
          </a:xfrm>
          <a:prstGeom prst="rect">
            <a:avLst/>
          </a:prstGeom>
        </p:spPr>
      </p:pic>
      <p:sp>
        <p:nvSpPr>
          <p:cNvPr id="16" name="Text 11"/>
          <p:cNvSpPr txBox="1"/>
          <p:nvPr/>
        </p:nvSpPr>
        <p:spPr>
          <a:xfrm>
            <a:off x="1920240" y="365760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Patching is a process</a:t>
            </a:r>
            <a:endParaRPr lang="en-US" sz="2000" dirty="0"/>
          </a:p>
        </p:txBody>
      </p:sp>
      <p:sp>
        <p:nvSpPr>
          <p:cNvPr id="17" name="Text 12"/>
          <p:cNvSpPr txBox="1"/>
          <p:nvPr/>
        </p:nvSpPr>
        <p:spPr>
          <a:xfrm>
            <a:off x="1920240" y="4114800"/>
            <a:ext cx="38862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Fast updates, base images that rebuild automatically, worker restarts.</a:t>
            </a:r>
            <a:endParaRPr lang="en-US" sz="1500" dirty="0"/>
          </a:p>
        </p:txBody>
      </p:sp>
      <p:sp>
        <p:nvSpPr>
          <p:cNvPr id="18" name="Defense in depth card"/>
          <p:cNvSpPr/>
          <p:nvPr/>
        </p:nvSpPr>
        <p:spPr>
          <a:xfrm>
            <a:off x="6172200" y="3429000"/>
            <a:ext cx="5440680" cy="1737360"/>
          </a:xfrm>
          <a:prstGeom prst="roundRect">
            <a:avLst>
              <a:gd name="adj" fmla="val 6316"/>
            </a:avLst>
          </a:prstGeom>
          <a:solidFill>
            <a:schemeClr val="bg2"/>
          </a:solidFill>
          <a:ln/>
        </p:spPr>
      </p:sp>
      <p:sp>
        <p:nvSpPr>
          <p:cNvPr id="19" name="Defense in depth circle"/>
          <p:cNvSpPr/>
          <p:nvPr/>
        </p:nvSpPr>
        <p:spPr>
          <a:xfrm>
            <a:off x="6446520" y="3840480"/>
            <a:ext cx="868680" cy="868680"/>
          </a:xfrm>
          <a:prstGeom prst="ellipse">
            <a:avLst/>
          </a:prstGeom>
          <a:solidFill>
            <a:schemeClr val="tx2"/>
          </a:solidFill>
          <a:ln/>
        </p:spPr>
      </p:sp>
      <p:pic>
        <p:nvPicPr>
          <p:cNvPr id="20" name="Defense in depth icon" descr="Defense in depth">    </p:cNvPr>
          <p:cNvPicPr>
            <a:picLocks noChangeAspect="1"/>
          </p:cNvPicPr>
          <p:nvPr/>
        </p:nvPicPr>
        <p:blipFill>
          <a:blip r:embed="rId4"/>
          <a:stretch>
            <a:fillRect/>
          </a:stretch>
        </p:blipFill>
        <p:spPr>
          <a:xfrm>
            <a:off x="6663690" y="4057650"/>
            <a:ext cx="434340" cy="434340"/>
          </a:xfrm>
          <a:prstGeom prst="rect">
            <a:avLst/>
          </a:prstGeom>
        </p:spPr>
      </p:pic>
      <p:sp>
        <p:nvSpPr>
          <p:cNvPr id="21" name="Text 15"/>
          <p:cNvSpPr txBox="1"/>
          <p:nvPr/>
        </p:nvSpPr>
        <p:spPr>
          <a:xfrm>
            <a:off x="7543800" y="3657600"/>
            <a:ext cx="3886200" cy="41148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Defense in depth</a:t>
            </a:r>
            <a:endParaRPr lang="en-US" sz="2000" dirty="0"/>
          </a:p>
        </p:txBody>
      </p:sp>
      <p:sp>
        <p:nvSpPr>
          <p:cNvPr id="22" name="Text 16"/>
          <p:cNvSpPr txBox="1"/>
          <p:nvPr/>
        </p:nvSpPr>
        <p:spPr>
          <a:xfrm>
            <a:off x="7543800" y="4114800"/>
            <a:ext cx="38862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Secure app code is not enough. Least privilege for www-data, firewall, WAF, monitoring.</a:t>
            </a:r>
            <a:endParaRPr lang="en-US" sz="1500" dirty="0"/>
          </a:p>
        </p:txBody>
      </p:sp>
      <p:sp>
        <p:nvSpPr>
          <p:cNvPr id="23" name="Text 17"/>
          <p:cNvSpPr txBox="1"/>
          <p:nvPr/>
        </p:nvSpPr>
        <p:spPr>
          <a:xfrm>
            <a:off x="548640" y="5532120"/>
            <a:ext cx="11064240" cy="640080"/>
          </a:xfrm>
          <a:prstGeom prst="rect">
            <a:avLst/>
          </a:prstGeom>
          <a:noFill/>
          <a:ln/>
        </p:spPr>
        <p:txBody>
          <a:bodyPr wrap="square" lIns="0" tIns="0" rIns="0" bIns="0" rtlCol="0" anchor="ctr"/>
          <a:lstStyle/>
          <a:p>
            <a:pPr indent="0" marL="0">
              <a:buNone/>
            </a:pPr>
            <a:r>
              <a:rPr lang="en-US" sz="1700" b="1" dirty="0">
                <a:solidFill>
                  <a:schemeClr val="accent2"/>
                </a:solidFill>
                <a:latin typeface="Calibri" pitchFamily="34" charset="0"/>
                <a:ea typeface="Calibri" pitchFamily="34" charset="-122"/>
                <a:cs typeface="Calibri" pitchFamily="34" charset="-120"/>
              </a:rPr>
              <a:t>In our labs: </a:t>
            </a:r>
            <a:pPr indent="0" marL="0">
              <a:buNone/>
            </a:pPr>
            <a:r>
              <a:rPr lang="en-US" sz="1700" dirty="0">
                <a:solidFill>
                  <a:schemeClr val="tx1"/>
                </a:solidFill>
                <a:latin typeface="Calibri" pitchFamily="34" charset="0"/>
                <a:ea typeface="Calibri" pitchFamily="34" charset="-122"/>
                <a:cs typeface="Calibri" pitchFamily="34" charset="-120"/>
              </a:rPr>
              <a:t>Lab 4 (unattended-upgrades on the server) and Lab 5 (Nginx limits, reverse proxy) are exactly these controls.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64592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Your code was fine. Your server was not.</a:t>
            </a:r>
            <a:endParaRPr lang="en-US" sz="4800" dirty="0"/>
          </a:p>
        </p:txBody>
      </p:sp>
      <p:sp>
        <p:nvSpPr>
          <p:cNvPr id="3" name="Text 0"/>
          <p:cNvSpPr/>
          <p:nvPr>
            <p:ph idx="101" type="body" hasCustomPrompt="1"/>
          </p:nvPr>
        </p:nvSpPr>
        <p:spPr>
          <a:xfrm>
            <a:off x="731520" y="3931920"/>
            <a:ext cx="10698480" cy="1097280"/>
          </a:xfrm>
          <a:prstGeom prst="rect">
            <a:avLst/>
          </a:prstGeom>
          <a:noFill/>
          <a:ln/>
        </p:spPr>
        <p:txBody>
          <a:bodyPr wrap="square" lIns="0" tIns="0" rIns="0" bIns="0" rtlCol="0" anchor="t"/>
          <a:lstStyle/>
          <a:p>
            <a:pPr algn="l" indent="0" marL="0">
              <a:buNone/>
            </a:pPr>
            <a:r>
              <a:rPr lang="en-US" sz="2200" dirty="0">
                <a:solidFill>
                  <a:schemeClr val="accent1"/>
                </a:solidFill>
                <a:latin typeface="Calibri" pitchFamily="34" charset="0"/>
                <a:ea typeface="Calibri" pitchFamily="34" charset="-122"/>
                <a:cs typeface="Calibri" pitchFamily="34" charset="-120"/>
              </a:rPr>
              <a:t>Discussion: how would you find every PHP install in your organisation in one hour?</a:t>
            </a:r>
            <a:endParaRPr lang="en-US" sz="2200" dirty="0"/>
          </a:p>
        </p:txBody>
      </p:sp>
      <p:pic>
        <p:nvPicPr>
          <p:cNvPr id="4" name="Question icon" descr="Question">    </p:cNvPr>
          <p:cNvPicPr>
            <a:picLocks noChangeAspect="1"/>
          </p:cNvPicPr>
          <p:nvPr/>
        </p:nvPicPr>
        <p:blipFill>
          <a:blip r:embed="rId1"/>
          <a:stretch>
            <a:fillRect/>
          </a:stretch>
        </p:blipFill>
        <p:spPr>
          <a:xfrm>
            <a:off x="731520" y="914400"/>
            <a:ext cx="822960" cy="822960"/>
          </a:xfrm>
          <a:prstGeom prst="rect">
            <a:avLst/>
          </a:prstGeom>
        </p:spPr>
      </p:pic>
    </p:spTree>
  </p:cSld>
  <p:clrMapOvr>
    <a:masterClrMapping/>
  </p:clrMapOvr>
</p:sld>
</file>

<file path=ppt/theme/theme1.xml><?xml version="1.0" encoding="utf-8"?>
<a:theme xmlns:a="http://schemas.openxmlformats.org/drawingml/2006/main" name="Security Course">
  <a:themeElements>
    <a:clrScheme name="Security Course">
      <a:dk1>
        <a:srgbClr val="1B2430"/>
      </a:dk1>
      <a:lt1>
        <a:srgbClr val="FFFFFF"/>
      </a:lt1>
      <a:dk2>
        <a:srgbClr val="0F1B2D"/>
      </a:dk2>
      <a:lt2>
        <a:srgbClr val="EEF2F6"/>
      </a:lt2>
      <a:accent1>
        <a:srgbClr val="F2A541"/>
      </a:accent1>
      <a:accent2>
        <a:srgbClr val="1B998B"/>
      </a:accent2>
      <a:accent3>
        <a:srgbClr val="D64550"/>
      </a:accent3>
      <a:accent4>
        <a:srgbClr val="3D5A80"/>
      </a:accent4>
      <a:accent5>
        <a:srgbClr val="6B7A8C"/>
      </a:accent5>
      <a:accent6>
        <a:srgbClr val="8E6C8A"/>
      </a:accent6>
      <a:hlink>
        <a:srgbClr val="1B998B"/>
      </a:hlink>
      <a:folHlink>
        <a:srgbClr val="8E6C8A"/>
      </a:folHlink>
    </a:clrScheme>
    <a:fontScheme name="Security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PHP2Shell – Case Study (October 2026)</dc:title>
  <dc:subject>PptxGenJS Presentation</dc:subject>
  <dc:creator>Web Security Course</dc:creator>
  <cp:lastModifiedBy>Web Security Course</cp:lastModifiedBy>
  <cp:revision>1</cp:revision>
  <dcterms:created xsi:type="dcterms:W3CDTF">2026-10-22T12:56:41Z</dcterms:created>
  <dcterms:modified xsi:type="dcterms:W3CDTF">2026-10-22T12:56:41Z</dcterms:modified>
</cp:coreProperties>
</file>