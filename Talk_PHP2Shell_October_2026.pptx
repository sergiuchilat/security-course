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 happened" id="{58689368-23c0-fe14-558a-cd0dd98db913}">
          <p14:sldIdLst>
            <p14:sldId id="256"/>
            <p14:sldId id="257"/>
            <p14:sldId id="258"/>
          </p14:sldIdLst>
        </p14:section>
        <p14:section name="How it works" id="{d7576959-f6ba-8cf3-95d3-af7fc869f231}">
          <p14:sldIdLst>
            <p14:sldId id="259"/>
            <p14:sldId id="260"/>
            <p14:sldId id="261"/>
            <p14:sldId id="262"/>
          </p14:sldIdLst>
        </p14:section>
        <p14:section name="Response" id="{b55a155d-94d7-4818-33c1-c229c2281549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10-15 minute talk. Start with a question: 'Your code is perfect, no SQL injection, no XSS. Can your site still be hacked?' Answer: yes, if the runtime under it is broken. That is exactly what happened to PHP on 21 October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RCE = Remote Code Execution, the worst category: the attacker runs commands with the rights of the web server user (www-data). The nickname PHP2Shell means 'from a PHP request to a shell on the server'. Official score is 9.2; leaked posts before release claimed 10.0, which was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server that runs PHP and answers web requests: PHP-FPM, Apache mod_php, php-cgi, FrankenPHP, LiteSpeed. mod_php was the highest priority because the exploit fires before any application code runs. PHP CLI scripts (cron jobs) are not the target, since there is no attacker-controlled HTTP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if possible. Connect to Lab 5: PHP-FPM/Nginx work exactly like this. A worker is a process; memory inside it survives from one request to the next unless PHP resets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example; the public PoC used a multipart POST with an extremely long filename. The point for students: error paths are rarely tested. Code that handles 'out of memory' runs almost never in normal life, so bugs there survive for years. On mod_php the attack works before application code even starts. For PHP-FPM no full exploit was shown for this specific CVE.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cross-request bug. Two requests have to land on the same worker; the attacker just sends many pairs until it works. Important detail from the advisory: hiding errors with display_errors=Off, error_reporting or @ does NOT help. The stale data is used even if nothing is printed or logged. So 'my logs are clean' is not proof of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Lesson 1: CVSS vector AV:N/AC:H/AT:P/PR:N/UI:N/VC:H/VI:H/VA:H. Network attack, no privileges, no user interaction, high impact on C, I and A. AC:H (high complexity) because it depends on heap layout and worker scheduling, which is why it is 9.2 and not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lesson in coordinated disclosure. Normally: researcher reports privately, vendor fixes, distros prepare packages, everyone publishes on the same day. Here the CVE IDs leaked a day early and an archive with details hit VirusTotal, so attacks started hours BEFORE the patch existed. That is effectively a zero-day window. Note: reports of attacks are early; the number of successful compromises was not confirmed at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Updating is the ONLY complete fix; the advisory says there is no complete configuration workaround. Practical gotcha: 'php -v' on the command line may be a different PHP than the one serving the website (FPM, a container, a hosting panel). After updating you must restart the workers, otherwise the old binary keeps running in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 must be set in php.ini or the pool config; ini_set() in code is too late because the bug fires before the script starts. Ask students: which of these is defense in depth? (WAF + isolation + config hardening are layers; the patch is the real fix.)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Exposure numbers are estimates from internet scans (Mallory.ai / Phoenix Security, Modat ~4.4 million PHP services). Treat them as directional. Also worth mentioning: AI tools were used both to find these bugs and, within hours of the leak, to try to reproduce them. The time between disclosure and attack keeps shrinking.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PHP advisories GHSA-w8hw-w9fx-j79w and GHSA-6wmf-4rv5-p3rp; CISA alert 21 Oct 2026; Rapid7, Qualys, Google Cloud, Recorded Future, SANS ISC, Infosecurity Magazine, Univ. of Washington IT. Some details (exact attack counts) were still developing on 22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474720" y="2651760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474720" y="3611880"/>
            <a:ext cx="5943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&amp; Infrastructure Security  ·  Case study: PHP2Shell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PHP2Shell: when the language itself is vulnerable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CVE-2026-109618 &amp; CVE-2026-109619  ·  Case study, October 2026</a:t>
            </a:r>
            <a:endParaRPr lang="en-US" sz="2200" dirty="0"/>
          </a:p>
        </p:txBody>
      </p:sp>
      <p:pic>
        <p:nvPicPr>
          <p:cNvPr id="4" name="Bug icon" descr="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PHP2Shell in one slide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v4.0, Critical (both CVEs)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338328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1188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or clicks needed: remote and unauthenticated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621792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websites with a known back-end language run PHP (W3Techs)</a:t>
            </a:r>
            <a:endParaRPr lang="en-US" sz="1600" dirty="0"/>
          </a:p>
        </p:txBody>
      </p:sp>
      <p:sp>
        <p:nvSpPr>
          <p:cNvPr id="12" name="Stat card 4"/>
          <p:cNvSpPr/>
          <p:nvPr/>
        </p:nvSpPr>
        <p:spPr>
          <a:xfrm>
            <a:off x="905256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8116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→ 8.5.11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in this range is vulnerable</a:t>
            </a:r>
            <a:endParaRPr lang="en-US" sz="1600" dirty="0"/>
          </a:p>
        </p:txBody>
      </p:sp>
      <p:sp>
        <p:nvSpPr>
          <p:cNvPr id="15" name="Summary card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Terminal circle"/>
          <p:cNvSpPr/>
          <p:nvPr/>
        </p:nvSpPr>
        <p:spPr>
          <a:xfrm>
            <a:off x="868680" y="48006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Terminal icon" descr="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5017770"/>
            <a:ext cx="434340" cy="4343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2011680" y="4434840"/>
            <a:ext cx="9326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memory-safety bugs in the PHP interpreter (written in C).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specially crafted HTTP requests an attacker can run their own code on the server, or read memory from other users' requests: passwords, session tokens, API keys.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was affected</a:t>
            </a:r>
            <a:endParaRPr lang="en-US" sz="3600" dirty="0"/>
          </a:p>
        </p:txBody>
      </p:sp>
      <p:sp>
        <p:nvSpPr>
          <p:cNvPr id="3" name="CMS and shops card"/>
          <p:cNvSpPr/>
          <p:nvPr/>
        </p:nvSpPr>
        <p:spPr>
          <a:xfrm>
            <a:off x="548640" y="14630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CMS and shops circle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MS and shops icon" descr="CMS and sho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002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45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and shops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057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WordPress, WooCommerce, Drupal, Joomla, Magento / Adobe Commerce. RCE demonstrated on WordPress, Drupal and Joomla.</a:t>
            </a:r>
            <a:endParaRPr lang="en-US" sz="1400" dirty="0"/>
          </a:p>
        </p:txBody>
      </p:sp>
      <p:sp>
        <p:nvSpPr>
          <p:cNvPr id="8" name="Hosting and cloud card"/>
          <p:cNvSpPr/>
          <p:nvPr/>
        </p:nvSpPr>
        <p:spPr>
          <a:xfrm>
            <a:off x="6172200" y="14630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Hosting and cloud circle"/>
          <p:cNvSpPr/>
          <p:nvPr/>
        </p:nvSpPr>
        <p:spPr>
          <a:xfrm>
            <a:off x="6446520" y="1783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Hosting and cloud icon" descr="Hosting and 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00025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645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cloud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057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hosting, Hostinger, AWS, Alibaba Cloud. Google App Engine and Cloud Run patched images; GKE and custom containers had to be rebuilt.</a:t>
            </a:r>
            <a:endParaRPr lang="en-US" sz="1400" dirty="0"/>
          </a:p>
        </p:txBody>
      </p:sp>
      <p:sp>
        <p:nvSpPr>
          <p:cNvPr id="13" name="Devices with a web UI card"/>
          <p:cNvSpPr/>
          <p:nvPr/>
        </p:nvSpPr>
        <p:spPr>
          <a:xfrm>
            <a:off x="548640" y="32918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Devices with a web UI circle"/>
          <p:cNvSpPr/>
          <p:nvPr/>
        </p:nvSpPr>
        <p:spPr>
          <a:xfrm>
            <a:off x="822960" y="36118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Devices with a web UI icon" descr="Devices with a web U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82905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4747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with a web UI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3886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and appliances that use PHP: pfSense, OPNsense, Cisco and Palo Alto products published bulletins.</a:t>
            </a:r>
            <a:endParaRPr lang="en-US" sz="1400" dirty="0"/>
          </a:p>
        </p:txBody>
      </p:sp>
      <p:sp>
        <p:nvSpPr>
          <p:cNvPr id="18" name="Universities, companies card"/>
          <p:cNvSpPr/>
          <p:nvPr/>
        </p:nvSpPr>
        <p:spPr>
          <a:xfrm>
            <a:off x="6172200" y="32918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9" name="Universities, companies circle"/>
          <p:cNvSpPr/>
          <p:nvPr/>
        </p:nvSpPr>
        <p:spPr>
          <a:xfrm>
            <a:off x="6446520" y="36118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Universities, companies icon" descr="Universities, compani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382905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34747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companies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3886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Nextcloud, phpMyAdmin, internal portals. Univ. of Washington cut network access (null route) to unpatched servers.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code could be 100% correct and still be hacked. The bug is in the runtime, below the application.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PHP workers are reused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54864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worker #3</a:t>
            </a:r>
            <a:endParaRPr lang="en-US" sz="1400" dirty="0"/>
          </a:p>
        </p:txBody>
      </p:sp>
      <p:sp>
        <p:nvSpPr>
          <p:cNvPr id="6" name="Arrow 1"/>
          <p:cNvSpPr/>
          <p:nvPr/>
        </p:nvSpPr>
        <p:spPr>
          <a:xfrm>
            <a:off x="2551176" y="2286000"/>
            <a:ext cx="237744" cy="0"/>
          </a:xfrm>
          <a:prstGeom prst="line">
            <a:avLst/>
          </a:prstGeom>
          <a:noFill/>
          <a:ln w="2540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7" name="Step 2"/>
          <p:cNvSpPr/>
          <p:nvPr/>
        </p:nvSpPr>
        <p:spPr>
          <a:xfrm>
            <a:off x="2825496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62656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962656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sets up request state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>
            <a:off x="4828032" y="2286000"/>
            <a:ext cx="237744" cy="0"/>
          </a:xfrm>
          <a:prstGeom prst="line">
            <a:avLst/>
          </a:prstGeom>
          <a:noFill/>
          <a:ln w="2540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1" name="Step 3"/>
          <p:cNvSpPr/>
          <p:nvPr/>
        </p:nvSpPr>
        <p:spPr>
          <a:xfrm>
            <a:off x="5102352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39512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index.php, WordPress…</a:t>
            </a:r>
            <a:endParaRPr lang="en-US" sz="1400" dirty="0"/>
          </a:p>
        </p:txBody>
      </p:sp>
      <p:sp>
        <p:nvSpPr>
          <p:cNvPr id="14" name="Arrow 3"/>
          <p:cNvSpPr/>
          <p:nvPr/>
        </p:nvSpPr>
        <p:spPr>
          <a:xfrm>
            <a:off x="7104888" y="2286000"/>
            <a:ext cx="237744" cy="0"/>
          </a:xfrm>
          <a:prstGeom prst="line">
            <a:avLst/>
          </a:prstGeom>
          <a:noFill/>
          <a:ln w="2540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5" name="Step 4"/>
          <p:cNvSpPr/>
          <p:nvPr/>
        </p:nvSpPr>
        <p:spPr>
          <a:xfrm>
            <a:off x="7379208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16368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516368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freed, state reset</a:t>
            </a:r>
            <a:endParaRPr lang="en-US" sz="1400" dirty="0"/>
          </a:p>
        </p:txBody>
      </p:sp>
      <p:sp>
        <p:nvSpPr>
          <p:cNvPr id="18" name="Arrow 4"/>
          <p:cNvSpPr/>
          <p:nvPr/>
        </p:nvSpPr>
        <p:spPr>
          <a:xfrm>
            <a:off x="9381744" y="2286000"/>
            <a:ext cx="237744" cy="0"/>
          </a:xfrm>
          <a:prstGeom prst="line">
            <a:avLst/>
          </a:prstGeom>
          <a:noFill/>
          <a:ln w="2540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9" name="Step 5"/>
          <p:cNvSpPr/>
          <p:nvPr/>
        </p:nvSpPr>
        <p:spPr>
          <a:xfrm>
            <a:off x="9656064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93224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793224" y="2240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worker #3, next user</a:t>
            </a:r>
            <a:endParaRPr lang="en-US" sz="1400" dirty="0"/>
          </a:p>
        </p:txBody>
      </p:sp>
      <p:sp>
        <p:nvSpPr>
          <p:cNvPr id="22" name="Explanation card"/>
          <p:cNvSpPr/>
          <p:nvPr/>
        </p:nvSpPr>
        <p:spPr>
          <a:xfrm>
            <a:off x="548640" y="3429000"/>
            <a:ext cx="110642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36118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reuse?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process for each request is slow, so PHP-FPM and Apache keep a pool of workers and reuse them for thousands of requests.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(cleanup) always finishes cleanly, so request B never sees anything from request A.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PHP2Shell breaks exactly this assumption.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bugs live in the red box.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1 · CVE-2026-109618 · out of memory</a:t>
            </a:r>
            <a:endParaRPr lang="en-US" sz="3600" dirty="0"/>
          </a:p>
        </p:txBody>
      </p:sp>
      <p:sp>
        <p:nvSpPr>
          <p:cNvPr id="3" name="Attacker sends circle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Attacker sends icon" descr="Attacker se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5735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417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8013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multipart/form-data POST, without Content-Length, so post_max_size is not enforced</a:t>
            </a:r>
            <a:endParaRPr lang="en-US" sz="1400" dirty="0"/>
          </a:p>
        </p:txBody>
      </p:sp>
      <p:sp>
        <p:nvSpPr>
          <p:cNvPr id="7" name="PHP runs out of memory circle"/>
          <p:cNvSpPr/>
          <p:nvPr/>
        </p:nvSpPr>
        <p:spPr>
          <a:xfrm>
            <a:off x="548640" y="2487168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HP runs out of memory icon" descr="PHP runs out of 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681478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4414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runs out of memory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8254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request data is only half initialized, and abandons the request</a:t>
            </a:r>
            <a:endParaRPr lang="en-US" sz="1400" dirty="0"/>
          </a:p>
        </p:txBody>
      </p:sp>
      <p:sp>
        <p:nvSpPr>
          <p:cNvPr id="11" name="Cleanup runs anyway circle"/>
          <p:cNvSpPr/>
          <p:nvPr/>
        </p:nvSpPr>
        <p:spPr>
          <a:xfrm>
            <a:off x="548640" y="3511296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Cleanup runs anyway icon" descr="Cleanup runs anyw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5606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4655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runs anyway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treats the half-built data as valid: it frees and uses garbage pointers</a:t>
            </a:r>
            <a:endParaRPr lang="en-US" sz="1400" dirty="0"/>
          </a:p>
        </p:txBody>
      </p:sp>
      <p:sp>
        <p:nvSpPr>
          <p:cNvPr id="15" name="Memory corruption circle"/>
          <p:cNvSpPr/>
          <p:nvPr/>
        </p:nvSpPr>
        <p:spPr>
          <a:xfrm>
            <a:off x="548640" y="4535424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Memory corruption icon" descr="Memory corrup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729734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44897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corruption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48737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carefully shaped heap turns this into code execution</a:t>
            </a:r>
            <a:endParaRPr lang="en-US" sz="1400" dirty="0"/>
          </a:p>
        </p:txBody>
      </p:sp>
      <p:sp>
        <p:nvSpPr>
          <p:cNvPr id="19" name="Request example card"/>
          <p:cNvSpPr/>
          <p:nvPr/>
        </p:nvSpPr>
        <p:spPr>
          <a:xfrm>
            <a:off x="7040880" y="1417320"/>
            <a:ext cx="4572000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31520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trigger looks like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0" y="210312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/index.php HTTP/1.1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Transfer-Encoding: chunked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multipart/form-data;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boundary=X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Content-Disposition: form-data;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name="f"; filename="AAAA…AAAA"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(thousands of parts and headers)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class: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 / uninitialized pointer (CWE-416, CWE-824) in error handling (CWE-755). One request per attempt on mod_php.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2 · CVE-2026-109619 · stale state</a:t>
            </a:r>
            <a:endParaRPr lang="en-US" sz="3600" dirty="0"/>
          </a:p>
        </p:txBody>
      </p:sp>
      <p:sp>
        <p:nvSpPr>
          <p:cNvPr id="3" name="Request 1: the producer header"/>
          <p:cNvSpPr/>
          <p:nvPr/>
        </p:nvSpPr>
        <p:spPr>
          <a:xfrm>
            <a:off x="548640" y="141732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1: the producer</a:t>
            </a:r>
            <a:endParaRPr lang="en-US" sz="2000" dirty="0"/>
          </a:p>
        </p:txBody>
      </p:sp>
      <p:sp>
        <p:nvSpPr>
          <p:cNvPr id="5" name="Request 1: the producer card"/>
          <p:cNvSpPr/>
          <p:nvPr/>
        </p:nvSpPr>
        <p:spPr>
          <a:xfrm>
            <a:off x="548640" y="2194560"/>
            <a:ext cx="53035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fatal error: timeout, out of memory, failed require…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stops before resetting some global state (errors, session, backtrace)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state now points to memory that has been freed</a:t>
            </a:r>
            <a:endParaRPr lang="en-US" sz="1600" dirty="0"/>
          </a:p>
        </p:txBody>
      </p:sp>
      <p:sp>
        <p:nvSpPr>
          <p:cNvPr id="7" name="Request 2: the consumer header"/>
          <p:cNvSpPr/>
          <p:nvPr/>
        </p:nvSpPr>
        <p:spPr>
          <a:xfrm>
            <a:off x="6309360" y="141732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417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2: the consumer</a:t>
            </a:r>
            <a:endParaRPr lang="en-US" sz="2000" dirty="0"/>
          </a:p>
        </p:txBody>
      </p:sp>
      <p:sp>
        <p:nvSpPr>
          <p:cNvPr id="9" name="Request 2: the consumer card"/>
          <p:cNvSpPr/>
          <p:nvPr/>
        </p:nvSpPr>
        <p:spPr>
          <a:xfrm>
            <a:off x="6309360" y="2194560"/>
            <a:ext cx="53035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3774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the same worker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runs before normal init: session upload progress, an INI warning from .htaccess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stale pointer: use-after-free → RCE or memory leak</a:t>
            </a:r>
            <a:endParaRPr lang="en-US" sz="1600" dirty="0"/>
          </a:p>
        </p:txBody>
      </p:sp>
      <p:sp>
        <p:nvSpPr>
          <p:cNvPr id="11" name="Producer to consumer arrow"/>
          <p:cNvSpPr/>
          <p:nvPr/>
        </p:nvSpPr>
        <p:spPr>
          <a:xfrm>
            <a:off x="5897880" y="1737360"/>
            <a:ext cx="365760" cy="0"/>
          </a:xfrm>
          <a:prstGeom prst="line">
            <a:avLst/>
          </a:prstGeom>
          <a:noFill/>
          <a:ln w="2540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2" name="Default settings card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Settings circle"/>
          <p:cNvSpPr/>
          <p:nvPr/>
        </p:nvSpPr>
        <p:spPr>
          <a:xfrm>
            <a:off x="822960" y="4956048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Settings icon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5173218"/>
            <a:ext cx="434340" cy="4343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965960" y="475488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default: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session.upload_progress (since PHP 5.4, 2012) and fatal_error_backtraces (PHP 8.5). Confirmed RCE on Apache mod_php and on PHP-FPM.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attacker gets</a:t>
            </a:r>
            <a:endParaRPr lang="en-US" sz="3600" dirty="0"/>
          </a:p>
        </p:txBody>
      </p:sp>
      <p:sp>
        <p:nvSpPr>
          <p:cNvPr id="3" name="Code execution card"/>
          <p:cNvSpPr/>
          <p:nvPr/>
        </p:nvSpPr>
        <p:spPr>
          <a:xfrm>
            <a:off x="548640" y="1463040"/>
            <a:ext cx="347472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Code execution circle"/>
          <p:cNvSpPr/>
          <p:nvPr/>
        </p:nvSpPr>
        <p:spPr>
          <a:xfrm>
            <a:off x="868680" y="17373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Code execution icon" descr="Code exec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954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run as the web server user (www-data). Typical next step: drop a webshell for persistent access.</a:t>
            </a:r>
            <a:endParaRPr lang="en-US" sz="1500" dirty="0"/>
          </a:p>
        </p:txBody>
      </p:sp>
      <p:sp>
        <p:nvSpPr>
          <p:cNvPr id="8" name="Memory disclosure card"/>
          <p:cNvSpPr/>
          <p:nvPr/>
        </p:nvSpPr>
        <p:spPr>
          <a:xfrm>
            <a:off x="4343400" y="1463040"/>
            <a:ext cx="347472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Memory disclosure circle"/>
          <p:cNvSpPr/>
          <p:nvPr/>
        </p:nvSpPr>
        <p:spPr>
          <a:xfrm>
            <a:off x="466344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emory disclosure icon" descr="Memory disclos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195453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disclosure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2461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RCE: read other users' passwords, session tokens, API keys from worker memory.</a:t>
            </a:r>
            <a:endParaRPr lang="en-US" sz="1500" dirty="0"/>
          </a:p>
        </p:txBody>
      </p:sp>
      <p:sp>
        <p:nvSpPr>
          <p:cNvPr id="13" name="Data and pivoting card"/>
          <p:cNvSpPr/>
          <p:nvPr/>
        </p:nvSpPr>
        <p:spPr>
          <a:xfrm>
            <a:off x="8138160" y="1463040"/>
            <a:ext cx="347472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4" name="Data and pivoting circle"/>
          <p:cNvSpPr/>
          <p:nvPr/>
        </p:nvSpPr>
        <p:spPr>
          <a:xfrm>
            <a:off x="8458200" y="17373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Data and pivoting icon" descr="Data and pivo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370" y="195453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pivoting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2461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config.php → database credentials → full database. ~394,000 PHP hosts also expose SSH.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broken. Confidentiality (leaked secrets), Integrity (modified files, webshells), Availability (crashed workers).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Timeline: a disclosure that leaked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2779776" y="1508760"/>
            <a:ext cx="0" cy="4572000"/>
          </a:xfrm>
          <a:prstGeom prst="line">
            <a:avLst/>
          </a:prstGeom>
          <a:noFill/>
          <a:ln w="25400">
            <a:solidFill>
              <a:srgbClr val="6B7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19–24</a:t>
            </a:r>
            <a:endParaRPr lang="en-US" sz="1600" dirty="0"/>
          </a:p>
        </p:txBody>
      </p:sp>
      <p:sp>
        <p:nvSpPr>
          <p:cNvPr id="5" name="Dot 1"/>
          <p:cNvSpPr/>
          <p:nvPr/>
        </p:nvSpPr>
        <p:spPr>
          <a:xfrm>
            <a:off x="2651760" y="15179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0" y="1417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Research finds the bugs (with AI help), proves RCE on WordPress and Drupal, reports privately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03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</a:t>
            </a:r>
            <a:endParaRPr lang="en-US" sz="1600" dirty="0"/>
          </a:p>
        </p:txBody>
      </p:sp>
      <p:sp>
        <p:nvSpPr>
          <p:cNvPr id="8" name="Dot 2"/>
          <p:cNvSpPr/>
          <p:nvPr/>
        </p:nvSpPr>
        <p:spPr>
          <a:xfrm>
            <a:off x="2651760" y="2304288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20370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security team confirms and starts writing fixes. Distros get patches in advance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</a:t>
            </a:r>
            <a:endParaRPr lang="en-US" sz="1600" dirty="0"/>
          </a:p>
        </p:txBody>
      </p:sp>
      <p:sp>
        <p:nvSpPr>
          <p:cNvPr id="11" name="Dot 3"/>
          <p:cNvSpPr/>
          <p:nvPr/>
        </p:nvSpPr>
        <p:spPr>
          <a:xfrm>
            <a:off x="2651760" y="3090672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9900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IDs leak on Hacker News before the embargo. PHP announces release for next day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76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21 · 02:29</a:t>
            </a:r>
            <a:endParaRPr lang="en-US" sz="1600" dirty="0"/>
          </a:p>
        </p:txBody>
      </p:sp>
      <p:sp>
        <p:nvSpPr>
          <p:cNvPr id="14" name="Dot 4"/>
          <p:cNvSpPr/>
          <p:nvPr/>
        </p:nvSpPr>
        <p:spPr>
          <a:xfrm>
            <a:off x="2651760" y="3877056"/>
            <a:ext cx="256032" cy="256032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3776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with exploit details appears on VirusTotal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62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21 · 07:34</a:t>
            </a:r>
            <a:endParaRPr lang="en-US" sz="1600" dirty="0"/>
          </a:p>
        </p:txBody>
      </p:sp>
      <p:sp>
        <p:nvSpPr>
          <p:cNvPr id="17" name="Dot 5"/>
          <p:cNvSpPr/>
          <p:nvPr/>
        </p:nvSpPr>
        <p:spPr>
          <a:xfrm>
            <a:off x="2651760" y="4663440"/>
            <a:ext cx="256032" cy="256032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45628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Patchstack reports first attacks via hosting partners. Cloudflare sees attempts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21 · 13:52</a:t>
            </a:r>
            <a:endParaRPr lang="en-US" sz="1600" dirty="0"/>
          </a:p>
        </p:txBody>
      </p:sp>
      <p:sp>
        <p:nvSpPr>
          <p:cNvPr id="20" name="Dot 6"/>
          <p:cNvSpPr/>
          <p:nvPr/>
        </p:nvSpPr>
        <p:spPr>
          <a:xfrm>
            <a:off x="2651760" y="5449824"/>
            <a:ext cx="256032" cy="256032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5349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releases fixes. CISA, CERT-EU and UK NCSC issue urgent alerts. Public PoCs appear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fixed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releases, 21 October 2026</a:t>
            </a:r>
            <a:endParaRPr lang="en-US" sz="1800" dirty="0"/>
          </a:p>
        </p:txBody>
      </p:sp>
      <p:sp>
        <p:nvSpPr>
          <p:cNvPr id="4" name="Version 8.5"/>
          <p:cNvSpPr/>
          <p:nvPr/>
        </p:nvSpPr>
        <p:spPr>
          <a:xfrm>
            <a:off x="548640" y="1874520"/>
            <a:ext cx="51206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8.5.12</a:t>
            </a:r>
            <a:endParaRPr lang="en-US" sz="2400" dirty="0"/>
          </a:p>
        </p:txBody>
      </p:sp>
      <p:sp>
        <p:nvSpPr>
          <p:cNvPr id="7" name="Version 8.4"/>
          <p:cNvSpPr/>
          <p:nvPr/>
        </p:nvSpPr>
        <p:spPr>
          <a:xfrm>
            <a:off x="548640" y="2651760"/>
            <a:ext cx="51206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8.4.27</a:t>
            </a:r>
            <a:endParaRPr lang="en-US" sz="2400" dirty="0"/>
          </a:p>
        </p:txBody>
      </p:sp>
      <p:sp>
        <p:nvSpPr>
          <p:cNvPr id="10" name="Version 8.3"/>
          <p:cNvSpPr/>
          <p:nvPr/>
        </p:nvSpPr>
        <p:spPr>
          <a:xfrm>
            <a:off x="548640" y="3429000"/>
            <a:ext cx="51206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8.3.36</a:t>
            </a:r>
            <a:endParaRPr lang="en-US" sz="2400" dirty="0"/>
          </a:p>
        </p:txBody>
      </p:sp>
      <p:sp>
        <p:nvSpPr>
          <p:cNvPr id="13" name="Version 8.2"/>
          <p:cNvSpPr/>
          <p:nvPr/>
        </p:nvSpPr>
        <p:spPr>
          <a:xfrm>
            <a:off x="548640" y="4206240"/>
            <a:ext cx="51206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206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8.2.35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 and older (EOL): no official release. Only source backports for 7.4–8.1, or a vendor/distro package.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3716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patch changes</a:t>
            </a:r>
            <a:endParaRPr lang="en-US" sz="1800" dirty="0"/>
          </a:p>
        </p:txBody>
      </p:sp>
      <p:sp>
        <p:nvSpPr>
          <p:cNvPr id="18" name="Cleanup checks state circle"/>
          <p:cNvSpPr/>
          <p:nvPr/>
        </p:nvSpPr>
        <p:spPr>
          <a:xfrm>
            <a:off x="6263640" y="19202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Cleanup checks state icon" descr="Cleanup checks st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0312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223760" y="1874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checks state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22585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Out-of-memory paths no longer free half-built request data</a:t>
            </a:r>
            <a:endParaRPr lang="en-US" sz="1400" dirty="0"/>
          </a:p>
        </p:txBody>
      </p:sp>
      <p:sp>
        <p:nvSpPr>
          <p:cNvPr id="22" name="Reset between requests circle"/>
          <p:cNvSpPr/>
          <p:nvPr/>
        </p:nvSpPr>
        <p:spPr>
          <a:xfrm>
            <a:off x="6263640" y="30175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Reset between requests icon" descr="Reset between reques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20040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23760" y="2971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between requests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223760" y="33558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error, session and backtrace state is cleared before reuse</a:t>
            </a:r>
            <a:endParaRPr lang="en-US" sz="1400" dirty="0"/>
          </a:p>
        </p:txBody>
      </p:sp>
      <p:sp>
        <p:nvSpPr>
          <p:cNvPr id="26" name="Hard memory limit circle"/>
          <p:cNvSpPr/>
          <p:nvPr/>
        </p:nvSpPr>
        <p:spPr>
          <a:xfrm>
            <a:off x="6263640" y="41148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Hard memory limit icon" descr="Hard memory lim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29768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23760" y="4069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memory limit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7223760" y="44531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at its memory limit is now killed instead of continuing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263640" y="52578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by the PHP core team (arnaud-lb, iluuu1994, bukka, ndossche). Advisories: GHSA-w8hw-w9fx-j79w, GHSA-6wmf-4rv5-p3rp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cannot patch today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mitigations: they reduce risk, they do not remove it</a:t>
            </a:r>
            <a:endParaRPr lang="en-US" sz="1800" dirty="0"/>
          </a:p>
        </p:txBody>
      </p:sp>
      <p:sp>
        <p:nvSpPr>
          <p:cNvPr id="4" name="php.ini card"/>
          <p:cNvSpPr/>
          <p:nvPr/>
        </p:nvSpPr>
        <p:spPr>
          <a:xfrm>
            <a:off x="548640" y="1920240"/>
            <a:ext cx="566928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php.ini / FPM pool, then restart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session.upload_progress.enabled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fatal_error_backtraces = 0   ; PHP 8.5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post_max_size = 8M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upload_max_filesize = 4M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pm.max_requests = 1          ; optional</a:t>
            </a:r>
            <a:endParaRPr lang="en-US" sz="1500" dirty="0"/>
          </a:p>
        </p:txBody>
      </p:sp>
      <p:sp>
        <p:nvSpPr>
          <p:cNvPr id="7" name="WAF / reverse proxy circle"/>
          <p:cNvSpPr/>
          <p:nvPr/>
        </p:nvSpPr>
        <p:spPr>
          <a:xfrm>
            <a:off x="6583680" y="19659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WAF / reverse proxy icon" descr="WAF / reverse prox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148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543800" y="19202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reverse proxy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3042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request size and number of multipart parts; block multipart where no uploads are used</a:t>
            </a:r>
            <a:endParaRPr lang="en-US" sz="1400" dirty="0"/>
          </a:p>
        </p:txBody>
      </p:sp>
      <p:sp>
        <p:nvSpPr>
          <p:cNvPr id="11" name="Isolate circle"/>
          <p:cNvSpPr/>
          <p:nvPr/>
        </p:nvSpPr>
        <p:spPr>
          <a:xfrm>
            <a:off x="6583680" y="3182112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solate icon" descr="Iso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3649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31363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35204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VPN or an IP allowlist, or take the service offline (CERT-EU advice)</a:t>
            </a:r>
            <a:endParaRPr lang="en-US" sz="1400" dirty="0"/>
          </a:p>
        </p:txBody>
      </p:sp>
      <p:sp>
        <p:nvSpPr>
          <p:cNvPr id="15" name="Hunt circle"/>
          <p:cNvSpPr/>
          <p:nvPr/>
        </p:nvSpPr>
        <p:spPr>
          <a:xfrm>
            <a:off x="6583680" y="4398264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Hunt icon" descr="Hu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5811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543800" y="435254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543800" y="47365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from Oct 20: unknown files in the web root, child processes of php-fpm, odd outbound traffic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help: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display_errors=Off, the @ operator, hiding the PHP version (expose_php=Off). Obscurity is not protection.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for this course</a:t>
            </a:r>
            <a:endParaRPr lang="en-US" sz="3600" dirty="0"/>
          </a:p>
        </p:txBody>
      </p:sp>
      <p:sp>
        <p:nvSpPr>
          <p:cNvPr id="3" name="Know what you run card"/>
          <p:cNvSpPr/>
          <p:nvPr/>
        </p:nvSpPr>
        <p:spPr>
          <a:xfrm>
            <a:off x="548640" y="146304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Know what you run circle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Know what you run icon" descr="Know what you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 run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1488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every PHP: servers, containers, appliances. You cannot patch what you do not know about.</a:t>
            </a:r>
            <a:endParaRPr lang="en-US" sz="1500" dirty="0"/>
          </a:p>
        </p:txBody>
      </p:sp>
      <p:sp>
        <p:nvSpPr>
          <p:cNvPr id="8" name="End-of-life is a risk card"/>
          <p:cNvSpPr/>
          <p:nvPr/>
        </p:nvSpPr>
        <p:spPr>
          <a:xfrm>
            <a:off x="6172200" y="146304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End-of-life is a risk circle"/>
          <p:cNvSpPr/>
          <p:nvPr/>
        </p:nvSpPr>
        <p:spPr>
          <a:xfrm>
            <a:off x="6446520" y="18745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End-of-life is a risk icon" descr="End-of-life is a ri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09169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6916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is a risk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1488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~880,000 public hosts ran PHP branches that got no fix at all (PHP 5, 7, 8.0, 8.1).</a:t>
            </a:r>
            <a:endParaRPr lang="en-US" sz="1500" dirty="0"/>
          </a:p>
        </p:txBody>
      </p:sp>
      <p:sp>
        <p:nvSpPr>
          <p:cNvPr id="13" name="Patching is a process card"/>
          <p:cNvSpPr/>
          <p:nvPr/>
        </p:nvSpPr>
        <p:spPr>
          <a:xfrm>
            <a:off x="548640" y="34290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4" name="Patching is a process circle"/>
          <p:cNvSpPr/>
          <p:nvPr/>
        </p:nvSpPr>
        <p:spPr>
          <a:xfrm>
            <a:off x="822960" y="38404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Patching is a process icon" descr="Patching is a proc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05765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657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is a process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1148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updates, base images that rebuild automatically, worker restarts.</a:t>
            </a:r>
            <a:endParaRPr lang="en-US" sz="1500" dirty="0"/>
          </a:p>
        </p:txBody>
      </p:sp>
      <p:sp>
        <p:nvSpPr>
          <p:cNvPr id="18" name="Defense in depth card"/>
          <p:cNvSpPr/>
          <p:nvPr/>
        </p:nvSpPr>
        <p:spPr>
          <a:xfrm>
            <a:off x="6172200" y="34290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9" name="Defense in depth circle"/>
          <p:cNvSpPr/>
          <p:nvPr/>
        </p:nvSpPr>
        <p:spPr>
          <a:xfrm>
            <a:off x="6446520" y="38404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Defense in depth icon" descr="Defense in dep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05765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3657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41148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app code is not enough. Least privilege for www-data, firewall, WAF, monitoring.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labs: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(unattended-upgrades on the server) and Lab 5 (Nginx limits, reverse proxy) are exactly these controls.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code was fine. Your server was not.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how would you find every PHP install in your organisation in one hour?</a:t>
            </a:r>
            <a:endParaRPr lang="en-US" sz="2200" dirty="0"/>
          </a:p>
        </p:txBody>
      </p:sp>
      <p:pic>
        <p:nvPicPr>
          <p:cNvPr id="4" name="Question icon" descr="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curity Course">
  <a:themeElements>
    <a:clrScheme name="Security Course">
      <a:dk1>
        <a:srgbClr val="1B2430"/>
      </a:dk1>
      <a:lt1>
        <a:srgbClr val="FFFFFF"/>
      </a:lt1>
      <a:dk2>
        <a:srgbClr val="0F1B2D"/>
      </a:dk2>
      <a:lt2>
        <a:srgbClr val="EEF2F6"/>
      </a:lt2>
      <a:accent1>
        <a:srgbClr val="F2A541"/>
      </a:accent1>
      <a:accent2>
        <a:srgbClr val="1B998B"/>
      </a:accent2>
      <a:accent3>
        <a:srgbClr val="D64550"/>
      </a:accent3>
      <a:accent4>
        <a:srgbClr val="3D5A80"/>
      </a:accent4>
      <a:accent5>
        <a:srgbClr val="6B7A8C"/>
      </a:accent5>
      <a:accent6>
        <a:srgbClr val="8E6C8A"/>
      </a:accent6>
      <a:hlink>
        <a:srgbClr val="1B998B"/>
      </a:hlink>
      <a:folHlink>
        <a:srgbClr val="8E6C8A"/>
      </a:folHlink>
    </a:clrScheme>
    <a:fontScheme name="Security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PHP2Shell – Case Study (October 2026)</dc:title>
  <dc:subject>PptxGenJS Presentation</dc:subject>
  <dc:creator>Web Security Course</dc:creator>
  <cp:lastModifiedBy>Web Security Course</cp:lastModifiedBy>
  <cp:revision>1</cp:revision>
  <dcterms:created xsi:type="dcterms:W3CDTF">2026-10-22T12:55:15Z</dcterms:created>
  <dcterms:modified xsi:type="dcterms:W3CDTF">2026-10-22T12:55:15Z</dcterms:modified>
</cp:coreProperties>
</file>